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D837DDF1-D1F1-4667-93B5-6782D489C5F1}">
  <a:tblStyle styleId="{D837DDF1-D1F1-4667-93B5-6782D489C5F1}" styleName="Table_0">
    <a:wholeTbl>
      <a:tcTxStyle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  <a:fill>
          <a:solidFill>
            <a:srgbClr val="CFD7E7"/>
          </a:solidFill>
        </a:fill>
      </a:tcStyle>
    </a:band2V>
    <a:lastCol>
      <a:tcTxStyle i="off" b="on"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i="off" b="on"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i="off" b="on"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i="off" b="on"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642271" name="Google Shape;3;n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9531740" name="Google Shape;4;n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065006" name="Google Shape;82;p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15266440" name="Google Shape;83;p1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03A16F-B0AC-DBEA-7F41-54FCEE7A7BE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510408" name="Google Shape;98;p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6678643" name="Google Shape;99;p3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570905" name="Google Shape;90;p2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47572582" name="Google Shape;91;p2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1389348" name="Google Shape;98;p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26855800" name="Google Shape;99;p3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719073" name="Google Shape;110;p4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668188" name="Google Shape;111;p4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89215" name="Google Shape;126;p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6490982" name="Google Shape;127;p5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187803" name="Google Shape;144;p6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91750907" name="Google Shape;145;p6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465100" name="Google Shape;159;p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20351180" name="Google Shape;160;p7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525644" name="Google Shape;167;p8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547666" name="Google Shape;168;p8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3468" name="Google Shape;180;p9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8637448" name="Google Shape;181;p9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980630" name="Google Shape;193;p1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051369" name="Google Shape;194;p10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27174" name="Google Shape;216;p1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07281491" name="Google Shape;217;p11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148205" name="Google Shape;228;p12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1250" name="Google Shape;229;p12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008323" name="Google Shape;242;p1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91192417" name="Google Shape;243;p13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004106" name="Google Shape;250;p14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7515503" name="Google Shape;251;p14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25953" name="Google Shape;276;p1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44267010" name="Google Shape;277;p15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748249" name="Google Shape;298;p16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56708640" name="Google Shape;299;p16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033734" name="Google Shape;324;p1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44953" name="Google Shape;325;p17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090474" name="Google Shape;13;p2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93047475" name="Google Shape;14;p2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58875630" name="Google Shape;15;p2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964233" name="Google Shape;17;p3"/>
          <p:cNvSpPr txBox="1"/>
          <p:nvPr>
            <p:ph type="ctrTitle"/>
          </p:nvPr>
        </p:nvSpPr>
        <p:spPr bwMode="auto"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11518591" name="Google Shape;18;p3"/>
          <p:cNvSpPr txBox="1"/>
          <p:nvPr>
            <p:ph type="subTitle" idx="1"/>
          </p:nvPr>
        </p:nvSpPr>
        <p:spPr bwMode="auto">
          <a:xfrm>
            <a:off x="1371600" y="3886200"/>
            <a:ext cx="6400800" cy="17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2710776" name="Google Shape;19;p3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9036729" name="Google Shape;20;p3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33266366" name="Google Shape;21;p3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ontent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427298" name="Google Shape;23;p4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12353572" name="Google Shape;24;p4"/>
          <p:cNvSpPr txBox="1"/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90602566" name="Google Shape;25;p4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18813056" name="Google Shape;26;p4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34504112" name="Google Shape;27;p4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89600" name="Google Shape;29;p5"/>
          <p:cNvSpPr txBox="1"/>
          <p:nvPr>
            <p:ph type="title"/>
          </p:nvPr>
        </p:nvSpPr>
        <p:spPr bwMode="auto"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08015243" name="Google Shape;30;p5"/>
          <p:cNvSpPr txBox="1"/>
          <p:nvPr>
            <p:ph type="body" idx="1"/>
          </p:nvPr>
        </p:nvSpPr>
        <p:spPr bwMode="auto"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14422024" name="Google Shape;31;p5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3430876" name="Google Shape;32;p5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83116322" name="Google Shape;33;p5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wo Content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506653" name="Google Shape;35;p6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76470184" name="Google Shape;36;p6"/>
          <p:cNvSpPr txBox="1"/>
          <p:nvPr>
            <p:ph type="body" idx="1"/>
          </p:nvPr>
        </p:nvSpPr>
        <p:spPr bwMode="auto"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719722670" name="Google Shape;37;p6"/>
          <p:cNvSpPr txBox="1"/>
          <p:nvPr>
            <p:ph type="body" idx="2"/>
          </p:nvPr>
        </p:nvSpPr>
        <p:spPr bwMode="auto"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917542624" name="Google Shape;38;p6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66105939" name="Google Shape;39;p6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3389356" name="Google Shape;40;p6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iso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6979975" name="Google Shape;42;p7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87893757" name="Google Shape;43;p7"/>
          <p:cNvSpPr txBox="1"/>
          <p:nvPr>
            <p:ph type="body" idx="1"/>
          </p:nvPr>
        </p:nvSpPr>
        <p:spPr bwMode="auto"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803846396" name="Google Shape;44;p7"/>
          <p:cNvSpPr txBox="1"/>
          <p:nvPr>
            <p:ph type="body" idx="2"/>
          </p:nvPr>
        </p:nvSpPr>
        <p:spPr bwMode="auto"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954933622" name="Google Shape;45;p7"/>
          <p:cNvSpPr txBox="1"/>
          <p:nvPr>
            <p:ph type="body" idx="3"/>
          </p:nvPr>
        </p:nvSpPr>
        <p:spPr bwMode="auto"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209720884" name="Google Shape;46;p7"/>
          <p:cNvSpPr txBox="1"/>
          <p:nvPr>
            <p:ph type="body" idx="4"/>
          </p:nvPr>
        </p:nvSpPr>
        <p:spPr bwMode="auto"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027938971" name="Google Shape;47;p7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00638482" name="Google Shape;48;p7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40460218" name="Google Shape;49;p7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26392" name="Google Shape;51;p8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49141045" name="Google Shape;52;p8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36107824" name="Google Shape;53;p8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99018184" name="Google Shape;54;p8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 with Caption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2008573" name="Google Shape;56;p9"/>
          <p:cNvSpPr txBox="1"/>
          <p:nvPr>
            <p:ph type="title"/>
          </p:nvPr>
        </p:nvSpPr>
        <p:spPr bwMode="auto"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2609410" name="Google Shape;57;p9"/>
          <p:cNvSpPr txBox="1"/>
          <p:nvPr>
            <p:ph type="body" idx="1"/>
          </p:nvPr>
        </p:nvSpPr>
        <p:spPr bwMode="auto"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799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175739230" name="Google Shape;58;p9"/>
          <p:cNvSpPr txBox="1"/>
          <p:nvPr>
            <p:ph type="body" idx="2"/>
          </p:nvPr>
        </p:nvSpPr>
        <p:spPr bwMode="auto"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34780403" name="Google Shape;59;p9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08884401" name="Google Shape;60;p9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00753485" name="Google Shape;61;p9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icture with Caption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420652" name="Google Shape;63;p10"/>
          <p:cNvSpPr txBox="1"/>
          <p:nvPr>
            <p:ph type="title"/>
          </p:nvPr>
        </p:nvSpPr>
        <p:spPr bwMode="auto"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37412387" name="Google Shape;64;p10"/>
          <p:cNvSpPr/>
          <p:nvPr>
            <p:ph type="pic" idx="2"/>
          </p:nvPr>
        </p:nvSpPr>
        <p:spPr bwMode="auto"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86104065" name="Google Shape;65;p10"/>
          <p:cNvSpPr txBox="1"/>
          <p:nvPr>
            <p:ph type="body" idx="1"/>
          </p:nvPr>
        </p:nvSpPr>
        <p:spPr bwMode="auto"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743321878" name="Google Shape;66;p10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59211689" name="Google Shape;67;p10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54926586" name="Google Shape;68;p10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Vertical Text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6257909" name="Google Shape;70;p11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06245312" name="Google Shape;71;p11"/>
          <p:cNvSpPr txBox="1"/>
          <p:nvPr>
            <p:ph type="body" idx="1"/>
          </p:nvPr>
        </p:nvSpPr>
        <p:spPr bwMode="auto"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37366694" name="Google Shape;72;p11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17624878" name="Google Shape;73;p11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38502489" name="Google Shape;74;p11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Vertical Title and Text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894962" name="Google Shape;76;p12"/>
          <p:cNvSpPr txBox="1"/>
          <p:nvPr>
            <p:ph type="title"/>
          </p:nvPr>
        </p:nvSpPr>
        <p:spPr bwMode="auto"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14303945" name="Google Shape;77;p12"/>
          <p:cNvSpPr txBox="1"/>
          <p:nvPr>
            <p:ph type="body" idx="1"/>
          </p:nvPr>
        </p:nvSpPr>
        <p:spPr bwMode="auto"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0958275" name="Google Shape;78;p12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83428112" name="Google Shape;79;p12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5945741" name="Google Shape;80;p12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178005" name="Google Shape;6;p1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239446108" name="Google Shape;7;p1"/>
          <p:cNvSpPr txBox="1"/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799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2736402" name="Google Shape;8;p1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225809472" name="Google Shape;9;p1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70281907" name="Google Shape;10;p1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10047550" name="Google Shape;11;p1" descr="image.png"/>
          <p:cNvPicPr/>
          <p:nvPr/>
        </p:nvPicPr>
        <p:blipFill rotWithShape="1">
          <a:blip r:embed="rId13">
            <a:alphaModFix/>
          </a:blip>
          <a:srcRect l="0" t="0" r="0" b="0"/>
          <a:stretch/>
        </p:blipFill>
        <p:spPr bwMode="auto">
          <a:xfrm>
            <a:off x="-335150" y="0"/>
            <a:ext cx="13006925" cy="6858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12468" name="Google Shape;85;p13"/>
          <p:cNvSpPr txBox="1"/>
          <p:nvPr/>
        </p:nvSpPr>
        <p:spPr bwMode="auto">
          <a:xfrm flipH="0" flipV="0">
            <a:off x="2681944" y="2979239"/>
            <a:ext cx="6331152" cy="899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indent="0" algn="ctr">
              <a:defRPr/>
            </a:pPr>
            <a:r>
              <a:rPr lang="en-US" sz="2600" b="1" i="0" u="none" strike="noStrike" cap="none" spc="0">
                <a:solidFill>
                  <a:srgbClr val="D32F2F"/>
                </a:solidFill>
                <a:latin typeface="JetBrainsMono NF"/>
                <a:ea typeface="JetBrainsMono NF"/>
                <a:cs typeface="JetBrainsMono NF"/>
              </a:rPr>
              <a:t>Moltbook:</a:t>
            </a:r>
            <a:r>
              <a:rPr lang="en-US" sz="2600" b="1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Gamechanger of Hype?</a:t>
            </a:r>
            <a:br>
              <a:rPr lang="en-US" sz="26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endParaRPr sz="26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700">
              <a:solidFill>
                <a:srgbClr val="D32F2F"/>
              </a:solidFill>
            </a:endParaRPr>
          </a:p>
        </p:txBody>
      </p:sp>
      <p:sp>
        <p:nvSpPr>
          <p:cNvPr id="1196173109" name="Google Shape;86;p13"/>
          <p:cNvSpPr txBox="1"/>
          <p:nvPr/>
        </p:nvSpPr>
        <p:spPr bwMode="auto">
          <a:xfrm flipH="0" flipV="0">
            <a:off x="1038753" y="4320124"/>
            <a:ext cx="9624015" cy="1211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>
                <a:solidFill>
                  <a:srgbClr val="F39C0A"/>
                </a:solidFill>
                <a:latin typeface="JetBrainsMono NF"/>
                <a:ea typeface="JetBrainsMono NF"/>
                <a:cs typeface="JetBrainsMono NF"/>
              </a:rPr>
              <a:t> Wat kan een AI-facebook ons leren over AI-agents?</a:t>
            </a:r>
            <a:endParaRPr lang="en-US" sz="1800" b="0" i="0" u="none" strike="noStrike" cap="none">
              <a:solidFill>
                <a:srgbClr val="F39C0A"/>
              </a:solidFill>
              <a:latin typeface="JetBrainsMono NF"/>
              <a:ea typeface="JetBrainsMono NF"/>
              <a:cs typeface="JetBrainsMono NF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en-US" sz="2100" b="0" i="0" u="none" strike="noStrike" cap="none">
              <a:solidFill>
                <a:srgbClr val="E0E0E0"/>
              </a:solidFill>
              <a:latin typeface="JetBrainsMono NF"/>
              <a:ea typeface="JetBrainsMono NF"/>
              <a:cs typeface="JetBrainsMono NF"/>
            </a:endParaRPr>
          </a:p>
        </p:txBody>
      </p:sp>
      <p:pic>
        <p:nvPicPr>
          <p:cNvPr id="1888807876" name="Google Shape;87;p13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345025" y="5393971"/>
            <a:ext cx="2182050" cy="1159225"/>
          </a:xfrm>
          <a:prstGeom prst="rect">
            <a:avLst/>
          </a:prstGeom>
          <a:noFill/>
          <a:ln>
            <a:noFill/>
          </a:ln>
        </p:spPr>
      </p:pic>
      <p:sp>
        <p:nvSpPr>
          <p:cNvPr id="6564182" name="Google Shape;88;p13"/>
          <p:cNvSpPr/>
          <p:nvPr/>
        </p:nvSpPr>
        <p:spPr bwMode="auto">
          <a:xfrm>
            <a:off x="5371271" y="2767451"/>
            <a:ext cx="952500" cy="4770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2050952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0064217" y="4491673"/>
            <a:ext cx="2061521" cy="20615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2923481" name="Google Shape;17;p3"/>
          <p:cNvSpPr txBox="1"/>
          <p:nvPr>
            <p:ph type="ctrTitle"/>
          </p:nvPr>
        </p:nvSpPr>
        <p:spPr bwMode="auto">
          <a:xfrm flipH="0" flipV="0">
            <a:off x="1911625" y="2047598"/>
            <a:ext cx="7772400" cy="2176531"/>
          </a:xfrm>
          <a:prstGeom prst="rect">
            <a:avLst/>
          </a:prstGeom>
          <a:noFill/>
          <a:ln>
            <a:noFill/>
          </a:ln>
        </p:spPr>
        <p:txBody>
          <a:bodyPr spcFirstLastPara="1" vertOverflow="overflow" horzOverflow="overflow" vert="horz" wrap="square" lIns="91424" tIns="45699" rIns="91424" bIns="45699" numCol="1" spcCol="0" rtlCol="0" fromWordArt="0" anchor="ctr" anchorCtr="0" forceAA="0" upright="0" compatLnSpc="0">
            <a:normAutofit fontScale="90000" lnSpcReduction="2000"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br>
              <a:rPr sz="36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36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Moltbook is interesting not because it proves AI is already socially autonomous, but because it shows how today’s agent systems are built</a:t>
            </a:r>
            <a:r>
              <a:rPr sz="12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24645143" name="Google Shape;18;p3"/>
          <p:cNvSpPr txBox="1"/>
          <p:nvPr>
            <p:ph type="subTitle" idx="1"/>
          </p:nvPr>
        </p:nvSpPr>
        <p:spPr bwMode="auto">
          <a:xfrm>
            <a:off x="2597425" y="4714460"/>
            <a:ext cx="6400800" cy="175259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lvl="0" algn="ctr">
              <a:spcBef>
                <a:spcPts val="639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59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79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99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99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99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99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99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99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805016" name="Google Shape;101;p15"/>
          <p:cNvSpPr txBox="1"/>
          <p:nvPr/>
        </p:nvSpPr>
        <p:spPr bwMode="auto">
          <a:xfrm>
            <a:off x="571500" y="571500"/>
            <a:ext cx="5550959" cy="213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/>
            </a:pPr>
            <a:endParaRPr/>
          </a:p>
        </p:txBody>
      </p:sp>
      <p:sp>
        <p:nvSpPr>
          <p:cNvPr id="173977805" name="Google Shape;103;p15"/>
          <p:cNvSpPr txBox="1"/>
          <p:nvPr/>
        </p:nvSpPr>
        <p:spPr bwMode="auto">
          <a:xfrm>
            <a:off x="1144274" y="1427472"/>
            <a:ext cx="8389559" cy="213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/>
            </a:pPr>
            <a:endParaRPr/>
          </a:p>
        </p:txBody>
      </p:sp>
      <p:sp>
        <p:nvSpPr>
          <p:cNvPr id="1762332524" name="Google Shape;104;p15"/>
          <p:cNvSpPr txBox="1"/>
          <p:nvPr/>
        </p:nvSpPr>
        <p:spPr bwMode="auto">
          <a:xfrm>
            <a:off x="1889174" y="2233350"/>
            <a:ext cx="7989959" cy="213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/>
            </a:pPr>
            <a:endParaRPr/>
          </a:p>
        </p:txBody>
      </p:sp>
      <p:sp>
        <p:nvSpPr>
          <p:cNvPr id="1707606187" name="Google Shape;105;p15"/>
          <p:cNvSpPr txBox="1"/>
          <p:nvPr/>
        </p:nvSpPr>
        <p:spPr bwMode="auto">
          <a:xfrm>
            <a:off x="1889174" y="3137376"/>
            <a:ext cx="7989959" cy="213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/>
            </a:pPr>
            <a:endParaRPr/>
          </a:p>
        </p:txBody>
      </p:sp>
      <p:sp>
        <p:nvSpPr>
          <p:cNvPr id="396932647" name="Google Shape;106;p15"/>
          <p:cNvSpPr txBox="1"/>
          <p:nvPr/>
        </p:nvSpPr>
        <p:spPr bwMode="auto">
          <a:xfrm>
            <a:off x="1889174" y="4041402"/>
            <a:ext cx="7989959" cy="213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/>
            </a:pPr>
            <a:endParaRPr/>
          </a:p>
        </p:txBody>
      </p:sp>
      <p:sp>
        <p:nvSpPr>
          <p:cNvPr id="1184549479" name="Google Shape;107;p15"/>
          <p:cNvSpPr txBox="1"/>
          <p:nvPr/>
        </p:nvSpPr>
        <p:spPr bwMode="auto">
          <a:xfrm>
            <a:off x="1889174" y="5359989"/>
            <a:ext cx="7989959" cy="512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2100"/>
          </a:p>
        </p:txBody>
      </p:sp>
      <p:pic>
        <p:nvPicPr>
          <p:cNvPr id="802529005" name="Google Shape;108;p15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4930888" name=""/>
          <p:cNvSpPr txBox="1"/>
          <p:nvPr/>
        </p:nvSpPr>
        <p:spPr bwMode="auto">
          <a:xfrm rot="0" flipH="0" flipV="0">
            <a:off x="2701759" y="2868432"/>
            <a:ext cx="5366391" cy="3139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defRPr/>
            </a:pPr>
            <a:endParaRPr sz="24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indent="0" algn="l">
              <a:defRPr/>
            </a:pPr>
            <a:r>
              <a:rPr sz="2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Keep it aligned with the site copy:</a:t>
            </a:r>
            <a:endParaRPr sz="2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R="0" algn="l">
              <a:defRPr/>
            </a:pPr>
            <a:r>
              <a:rPr sz="2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experimental platform</a:t>
            </a:r>
            <a:endParaRPr sz="2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R="0" algn="l">
              <a:defRPr/>
            </a:pPr>
            <a:r>
              <a:rPr sz="2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AI agents interact like a social network</a:t>
            </a:r>
            <a:endParaRPr sz="2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R="0" algn="l">
              <a:defRPr/>
            </a:pPr>
            <a:r>
              <a:rPr sz="2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communities and structures can emerge</a:t>
            </a:r>
            <a:endParaRPr sz="2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R="0" algn="l">
              <a:defRPr/>
            </a:pPr>
            <a:r>
              <a:rPr sz="2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interesting for research and strategy</a:t>
            </a:r>
            <a:endParaRPr sz="2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indent="0" algn="l">
              <a:defRPr/>
            </a:pPr>
            <a:r>
              <a:rPr sz="2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Then one critical line:</a:t>
            </a:r>
            <a:br>
              <a:rPr sz="2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22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But to evaluate it correctly, we need to understand what an “AI agent” really is.</a:t>
            </a:r>
            <a:endParaRPr sz="2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53339535" name=""/>
          <p:cNvSpPr txBox="1"/>
          <p:nvPr/>
        </p:nvSpPr>
        <p:spPr bwMode="auto">
          <a:xfrm rot="0" flipH="0" flipV="0">
            <a:off x="405606" y="678359"/>
            <a:ext cx="6626450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4800" b="1" i="0" u="none" strike="noStrike" cap="none">
                <a:solidFill>
                  <a:srgbClr val="FFFFFF"/>
                </a:solidFill>
                <a:latin typeface="JetBrainsMono NF"/>
                <a:ea typeface="JetBrainsMono NF"/>
                <a:cs typeface="JetBrainsMono NF"/>
              </a:rPr>
              <a:t>Wat is </a:t>
            </a:r>
            <a:r>
              <a:rPr lang="en-US" sz="4800" b="1" i="0" u="none" strike="noStrike" cap="none">
                <a:solidFill>
                  <a:srgbClr val="D32F2F"/>
                </a:solidFill>
                <a:latin typeface="JetBrainsMono NF"/>
                <a:ea typeface="JetBrainsMono NF"/>
                <a:cs typeface="JetBrainsMono NF"/>
              </a:rPr>
              <a:t>Moltbook?</a:t>
            </a:r>
            <a:endParaRPr sz="12000">
              <a:solidFill>
                <a:srgbClr val="D32F2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758529" name="Google Shape;93;p14"/>
          <p:cNvSpPr txBox="1"/>
          <p:nvPr/>
        </p:nvSpPr>
        <p:spPr bwMode="auto">
          <a:xfrm>
            <a:off x="4300775" y="2252662"/>
            <a:ext cx="359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Deel</a:t>
            </a:r>
            <a:r>
              <a:rPr lang="en-US" sz="60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lang="en-US" sz="60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1.1</a:t>
            </a:r>
            <a:endParaRPr>
              <a:solidFill>
                <a:srgbClr val="D32F2F"/>
              </a:solidFill>
            </a:endParaRPr>
          </a:p>
        </p:txBody>
      </p:sp>
      <p:sp>
        <p:nvSpPr>
          <p:cNvPr id="1567084757" name="Google Shape;94;p14"/>
          <p:cNvSpPr/>
          <p:nvPr/>
        </p:nvSpPr>
        <p:spPr bwMode="auto">
          <a:xfrm>
            <a:off x="5619725" y="3405200"/>
            <a:ext cx="952500" cy="47700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46356785" name="Google Shape;95;p14"/>
          <p:cNvSpPr txBox="1"/>
          <p:nvPr/>
        </p:nvSpPr>
        <p:spPr bwMode="auto">
          <a:xfrm>
            <a:off x="4881575" y="3951287"/>
            <a:ext cx="24288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De 'AI-First' Transitie</a:t>
            </a:r>
            <a:endParaRPr/>
          </a:p>
        </p:txBody>
      </p:sp>
      <p:pic>
        <p:nvPicPr>
          <p:cNvPr id="71031980" name="Google Shape;96;p14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987341" name="Google Shape;101;p15"/>
          <p:cNvSpPr txBox="1"/>
          <p:nvPr/>
        </p:nvSpPr>
        <p:spPr bwMode="auto">
          <a:xfrm>
            <a:off x="571500" y="571500"/>
            <a:ext cx="5550599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8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 </a:t>
            </a:r>
            <a:r>
              <a:rPr lang="en-US" sz="38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Marktshift</a:t>
            </a:r>
            <a:endParaRPr sz="1900">
              <a:solidFill>
                <a:srgbClr val="D32F2F"/>
              </a:solidFill>
            </a:endParaRPr>
          </a:p>
        </p:txBody>
      </p:sp>
      <p:pic>
        <p:nvPicPr>
          <p:cNvPr id="136286353" name="Google Shape;102;p15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6334124" y="0"/>
            <a:ext cx="463420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875922553" name="Google Shape;103;p15"/>
          <p:cNvSpPr txBox="1"/>
          <p:nvPr/>
        </p:nvSpPr>
        <p:spPr bwMode="auto">
          <a:xfrm>
            <a:off x="1144274" y="1427472"/>
            <a:ext cx="8389199" cy="473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Van Code naar </a:t>
            </a:r>
            <a:r>
              <a:rPr lang="en-US" sz="305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AI Orchestrator</a:t>
            </a:r>
            <a:endParaRPr sz="2000"/>
          </a:p>
        </p:txBody>
      </p:sp>
      <p:sp>
        <p:nvSpPr>
          <p:cNvPr id="612107222" name="Google Shape;104;p15"/>
          <p:cNvSpPr txBox="1"/>
          <p:nvPr/>
        </p:nvSpPr>
        <p:spPr bwMode="auto">
          <a:xfrm>
            <a:off x="1889174" y="2233350"/>
            <a:ext cx="7989599" cy="3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Traditio</a:t>
            </a:r>
            <a:r>
              <a:rPr lang="en-US" sz="2050" b="1">
                <a:solidFill>
                  <a:srgbClr val="F39C0A"/>
                </a:solidFill>
                <a:latin typeface="Lato"/>
                <a:ea typeface="Lato"/>
                <a:cs typeface="Lato"/>
              </a:rPr>
              <a:t>neel:</a:t>
            </a:r>
            <a:r>
              <a:rPr lang="en-US" sz="2050">
                <a:solidFill>
                  <a:srgbClr val="F39C0A"/>
                </a:solidFill>
                <a:latin typeface="Lato"/>
                <a:ea typeface="Lato"/>
                <a:cs typeface="Lato"/>
              </a:rPr>
              <a:t> </a:t>
            </a:r>
            <a:r>
              <a:rPr lang="en-US" sz="20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(code, content) </a:t>
            </a:r>
            <a:r>
              <a:rPr lang="en-US" sz="2050">
                <a:solidFill>
                  <a:srgbClr val="F0F0F0"/>
                </a:solidFill>
                <a:latin typeface="Lato"/>
                <a:ea typeface="Lato"/>
                <a:cs typeface="Lato"/>
              </a:rPr>
              <a:t>is het product</a:t>
            </a:r>
            <a:endParaRPr sz="2100"/>
          </a:p>
        </p:txBody>
      </p:sp>
      <p:sp>
        <p:nvSpPr>
          <p:cNvPr id="1806935153" name="Google Shape;105;p15"/>
          <p:cNvSpPr txBox="1"/>
          <p:nvPr/>
        </p:nvSpPr>
        <p:spPr bwMode="auto">
          <a:xfrm>
            <a:off x="1889174" y="3137376"/>
            <a:ext cx="7989599" cy="3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Oude Realiteit:</a:t>
            </a:r>
            <a:r>
              <a:rPr lang="en-US" sz="20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Klanten kochten 'taken' en 'uren'.</a:t>
            </a:r>
            <a:endParaRPr sz="2100"/>
          </a:p>
        </p:txBody>
      </p:sp>
      <p:sp>
        <p:nvSpPr>
          <p:cNvPr id="775051026" name="Google Shape;106;p15"/>
          <p:cNvSpPr txBox="1"/>
          <p:nvPr/>
        </p:nvSpPr>
        <p:spPr bwMode="auto">
          <a:xfrm>
            <a:off x="1889174" y="4041402"/>
            <a:ext cx="7989599" cy="816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Nieuwe Realiteit:</a:t>
            </a:r>
            <a:r>
              <a:rPr lang="en-US" sz="20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Klanten kopen 'strategische intelligentie', 'oordeelsvorming' en 'verantwoorde innovatie'.</a:t>
            </a:r>
            <a:endParaRPr sz="2100"/>
          </a:p>
        </p:txBody>
      </p:sp>
      <p:sp>
        <p:nvSpPr>
          <p:cNvPr id="1454745671" name="Google Shape;107;p15"/>
          <p:cNvSpPr txBox="1"/>
          <p:nvPr/>
        </p:nvSpPr>
        <p:spPr bwMode="auto">
          <a:xfrm>
            <a:off x="1889174" y="5359989"/>
            <a:ext cx="7989599" cy="816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Data:</a:t>
            </a:r>
            <a:r>
              <a:rPr lang="en-US" sz="20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84% van ontwikkelaars gebruikt al AI</a:t>
            </a:r>
            <a:r>
              <a:rPr lang="en-US" sz="2050">
                <a:solidFill>
                  <a:srgbClr val="F0F0F0"/>
                </a:solidFill>
                <a:latin typeface="Lato"/>
                <a:ea typeface="Lato"/>
                <a:cs typeface="Lato"/>
              </a:rPr>
              <a:t>: N</a:t>
            </a:r>
            <a:r>
              <a:rPr lang="en-US" sz="20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ieuwe rol is de "AI Or</a:t>
            </a:r>
            <a:r>
              <a:rPr lang="en-US" sz="2050">
                <a:solidFill>
                  <a:srgbClr val="F0F0F0"/>
                </a:solidFill>
                <a:latin typeface="Lato"/>
                <a:ea typeface="Lato"/>
                <a:cs typeface="Lato"/>
              </a:rPr>
              <a:t>k</a:t>
            </a:r>
            <a:r>
              <a:rPr lang="en-US" sz="20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estrator".</a:t>
            </a:r>
            <a:endParaRPr sz="2100"/>
          </a:p>
        </p:txBody>
      </p:sp>
      <p:pic>
        <p:nvPicPr>
          <p:cNvPr id="1379084871" name="Google Shape;108;p15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11576149" y="6105524"/>
            <a:ext cx="527099" cy="587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9126976" name="Google Shape;113;p16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571500" y="1962150"/>
            <a:ext cx="5286375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5508033" name="Google Shape;114;p16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6334125" y="1962150"/>
            <a:ext cx="5286375" cy="3124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2594268" name="Google Shape;115;p16"/>
          <p:cNvSpPr txBox="1"/>
          <p:nvPr/>
        </p:nvSpPr>
        <p:spPr bwMode="auto">
          <a:xfrm>
            <a:off x="962025" y="2352675"/>
            <a:ext cx="473059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Oude Waardepropositie</a:t>
            </a:r>
            <a:endParaRPr/>
          </a:p>
        </p:txBody>
      </p:sp>
      <p:sp>
        <p:nvSpPr>
          <p:cNvPr id="1403688420" name="Google Shape;116;p16"/>
          <p:cNvSpPr txBox="1"/>
          <p:nvPr/>
        </p:nvSpPr>
        <p:spPr bwMode="auto">
          <a:xfrm>
            <a:off x="961988" y="3009650"/>
            <a:ext cx="45054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"Wij bouwen uw app voor €X."</a:t>
            </a:r>
            <a:endParaRPr sz="1700"/>
          </a:p>
        </p:txBody>
      </p:sp>
      <p:sp>
        <p:nvSpPr>
          <p:cNvPr id="1801962967" name="Google Shape;117;p16"/>
          <p:cNvSpPr txBox="1"/>
          <p:nvPr/>
        </p:nvSpPr>
        <p:spPr bwMode="auto">
          <a:xfrm>
            <a:off x="962025" y="3403750"/>
            <a:ext cx="45054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Concurreert direct met een $20/maand AI-bouwer.</a:t>
            </a:r>
            <a:endParaRPr sz="1700"/>
          </a:p>
        </p:txBody>
      </p:sp>
      <p:sp>
        <p:nvSpPr>
          <p:cNvPr id="1062920710" name="Google Shape;118;p16"/>
          <p:cNvSpPr txBox="1"/>
          <p:nvPr/>
        </p:nvSpPr>
        <p:spPr bwMode="auto">
          <a:xfrm>
            <a:off x="962025" y="4264025"/>
            <a:ext cx="45054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Focus:</a:t>
            </a: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Eenmalige projectinkomsten.</a:t>
            </a:r>
            <a:endParaRPr sz="1700"/>
          </a:p>
        </p:txBody>
      </p:sp>
      <p:sp>
        <p:nvSpPr>
          <p:cNvPr id="699138836" name="Google Shape;119;p16"/>
          <p:cNvSpPr txBox="1"/>
          <p:nvPr/>
        </p:nvSpPr>
        <p:spPr bwMode="auto">
          <a:xfrm>
            <a:off x="6724649" y="2352675"/>
            <a:ext cx="4730591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Nieuwe Waardepropositie (GaaS)</a:t>
            </a:r>
            <a:endParaRPr/>
          </a:p>
        </p:txBody>
      </p:sp>
      <p:sp>
        <p:nvSpPr>
          <p:cNvPr id="416257590" name="Google Shape;120;p16"/>
          <p:cNvSpPr txBox="1"/>
          <p:nvPr/>
        </p:nvSpPr>
        <p:spPr bwMode="auto">
          <a:xfrm>
            <a:off x="6724649" y="2933450"/>
            <a:ext cx="45054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"Wij ontwerpen, beveiligen en beheren het AI-systeem dat uw processen uitvoert."</a:t>
            </a:r>
            <a:endParaRPr sz="1700"/>
          </a:p>
        </p:txBody>
      </p:sp>
      <p:sp>
        <p:nvSpPr>
          <p:cNvPr id="92349181" name="Google Shape;121;p16"/>
          <p:cNvSpPr txBox="1"/>
          <p:nvPr/>
        </p:nvSpPr>
        <p:spPr bwMode="auto">
          <a:xfrm>
            <a:off x="6724649" y="3883325"/>
            <a:ext cx="45054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Focus:</a:t>
            </a: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Maandelijkse retentie, gebaseerd op vertrouwen, veiligheid en compliance.</a:t>
            </a:r>
            <a:endParaRPr sz="1700"/>
          </a:p>
        </p:txBody>
      </p:sp>
      <p:sp>
        <p:nvSpPr>
          <p:cNvPr id="1726055216" name="Google Shape;122;p16"/>
          <p:cNvSpPr txBox="1"/>
          <p:nvPr/>
        </p:nvSpPr>
        <p:spPr bwMode="auto">
          <a:xfrm>
            <a:off x="571500" y="571500"/>
            <a:ext cx="11601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8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Nieuwe </a:t>
            </a:r>
            <a:r>
              <a:rPr lang="en-US" sz="38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Waardepropositie</a:t>
            </a:r>
            <a:endParaRPr sz="1900">
              <a:solidFill>
                <a:srgbClr val="D32F2F"/>
              </a:solidFill>
            </a:endParaRPr>
          </a:p>
        </p:txBody>
      </p:sp>
      <p:sp>
        <p:nvSpPr>
          <p:cNvPr id="1837083779" name="Google Shape;123;p16"/>
          <p:cNvSpPr txBox="1"/>
          <p:nvPr/>
        </p:nvSpPr>
        <p:spPr bwMode="auto">
          <a:xfrm>
            <a:off x="2967012" y="5422300"/>
            <a:ext cx="6258000" cy="8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Verantwoorde AI is geen last</a:t>
            </a:r>
            <a:r>
              <a:rPr lang="en-US" sz="2150">
                <a:solidFill>
                  <a:srgbClr val="F0F0F0"/>
                </a:solidFill>
                <a:latin typeface="Lato"/>
                <a:ea typeface="Lato"/>
                <a:cs typeface="Lato"/>
              </a:rPr>
              <a:t> maar </a:t>
            </a:r>
            <a:r>
              <a:rPr lang="en-US" sz="21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is een </a:t>
            </a:r>
            <a:r>
              <a:rPr lang="en-US" sz="21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commerciële opportuniteit</a:t>
            </a:r>
            <a:r>
              <a:rPr lang="en-US" sz="21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</a:t>
            </a:r>
            <a:endParaRPr sz="1900"/>
          </a:p>
        </p:txBody>
      </p:sp>
      <p:pic>
        <p:nvPicPr>
          <p:cNvPr id="1749068069" name="Google Shape;124;p16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15415772" name="Google Shape;129;p17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571500" y="1986150"/>
            <a:ext cx="3429000" cy="389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3464367" name="Google Shape;130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381500" y="1986150"/>
            <a:ext cx="3429000" cy="389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427995" name="Google Shape;131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8191500" y="1986150"/>
            <a:ext cx="3429000" cy="38946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808140" name="Google Shape;132;p17"/>
          <p:cNvSpPr txBox="1"/>
          <p:nvPr/>
        </p:nvSpPr>
        <p:spPr bwMode="auto">
          <a:xfrm>
            <a:off x="1490712" y="2757620"/>
            <a:ext cx="1590599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45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13.8%</a:t>
            </a:r>
            <a:endParaRPr/>
          </a:p>
        </p:txBody>
      </p:sp>
      <p:sp>
        <p:nvSpPr>
          <p:cNvPr id="1493661183" name="Google Shape;133;p17"/>
          <p:cNvSpPr txBox="1"/>
          <p:nvPr/>
        </p:nvSpPr>
        <p:spPr bwMode="auto">
          <a:xfrm>
            <a:off x="1309675" y="3796675"/>
            <a:ext cx="1952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AI-Adoptie</a:t>
            </a:r>
            <a:endParaRPr sz="1700"/>
          </a:p>
        </p:txBody>
      </p:sp>
      <p:sp>
        <p:nvSpPr>
          <p:cNvPr id="1017718958" name="Google Shape;134;p17"/>
          <p:cNvSpPr txBox="1"/>
          <p:nvPr/>
        </p:nvSpPr>
        <p:spPr bwMode="auto">
          <a:xfrm>
            <a:off x="1490662" y="4530292"/>
            <a:ext cx="1724100" cy="6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(vs. 5% EU-gemiddelde)</a:t>
            </a:r>
            <a:endParaRPr sz="1800"/>
          </a:p>
        </p:txBody>
      </p:sp>
      <p:sp>
        <p:nvSpPr>
          <p:cNvPr id="469389403" name="Google Shape;135;p17"/>
          <p:cNvSpPr txBox="1"/>
          <p:nvPr/>
        </p:nvSpPr>
        <p:spPr bwMode="auto">
          <a:xfrm>
            <a:off x="5202750" y="2757625"/>
            <a:ext cx="19527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45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47.7%</a:t>
            </a:r>
            <a:endParaRPr/>
          </a:p>
        </p:txBody>
      </p:sp>
      <p:sp>
        <p:nvSpPr>
          <p:cNvPr id="713317008" name="Google Shape;136;p17"/>
          <p:cNvSpPr txBox="1"/>
          <p:nvPr/>
        </p:nvSpPr>
        <p:spPr bwMode="auto">
          <a:xfrm>
            <a:off x="5088138" y="3796675"/>
            <a:ext cx="2181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Cloudgebruik</a:t>
            </a:r>
            <a:endParaRPr sz="1700"/>
          </a:p>
        </p:txBody>
      </p:sp>
      <p:sp>
        <p:nvSpPr>
          <p:cNvPr id="1808317994" name="Google Shape;137;p17"/>
          <p:cNvSpPr txBox="1"/>
          <p:nvPr/>
        </p:nvSpPr>
        <p:spPr bwMode="auto">
          <a:xfrm>
            <a:off x="5119662" y="4530292"/>
            <a:ext cx="1952700" cy="6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(vs. 38.9% EU-gemiddelde)</a:t>
            </a:r>
            <a:endParaRPr sz="1800"/>
          </a:p>
        </p:txBody>
      </p:sp>
      <p:sp>
        <p:nvSpPr>
          <p:cNvPr id="2118297549" name="Google Shape;138;p17"/>
          <p:cNvSpPr txBox="1"/>
          <p:nvPr/>
        </p:nvSpPr>
        <p:spPr bwMode="auto">
          <a:xfrm>
            <a:off x="9095824" y="3796675"/>
            <a:ext cx="1638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Conclusie</a:t>
            </a:r>
            <a:endParaRPr sz="1700"/>
          </a:p>
        </p:txBody>
      </p:sp>
      <p:sp>
        <p:nvSpPr>
          <p:cNvPr id="678098626" name="Google Shape;139;p17"/>
          <p:cNvSpPr txBox="1"/>
          <p:nvPr/>
        </p:nvSpPr>
        <p:spPr bwMode="auto">
          <a:xfrm>
            <a:off x="8486700" y="4530304"/>
            <a:ext cx="2838600" cy="1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5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Een vruchtbare bodem voor de juiste, pragmatische implementatie.</a:t>
            </a:r>
            <a:endParaRPr sz="1800"/>
          </a:p>
        </p:txBody>
      </p:sp>
      <p:pic>
        <p:nvPicPr>
          <p:cNvPr id="166104011" name="Google Shape;140;p17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9677400" y="2875373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9324605" name="Google Shape;141;p17"/>
          <p:cNvSpPr txBox="1"/>
          <p:nvPr/>
        </p:nvSpPr>
        <p:spPr bwMode="auto">
          <a:xfrm>
            <a:off x="868500" y="698500"/>
            <a:ext cx="104550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De Belgische Context: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Pragmatisme &amp; Maturiteit</a:t>
            </a:r>
            <a:endParaRPr/>
          </a:p>
        </p:txBody>
      </p:sp>
      <p:pic>
        <p:nvPicPr>
          <p:cNvPr id="201040596" name="Google Shape;142;p17"/>
          <p:cNvPicPr/>
          <p:nvPr/>
        </p:nvPicPr>
        <p:blipFill rotWithShape="1">
          <a:blip r:embed="rId6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178570" name="Google Shape;147;p18"/>
          <p:cNvSpPr txBox="1"/>
          <p:nvPr/>
        </p:nvSpPr>
        <p:spPr bwMode="auto">
          <a:xfrm>
            <a:off x="479774" y="2119296"/>
            <a:ext cx="117849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900">
                <a:solidFill>
                  <a:srgbClr val="E0E0E0"/>
                </a:solidFill>
                <a:latin typeface="Lato"/>
                <a:ea typeface="Lato"/>
                <a:cs typeface="Lato"/>
              </a:rPr>
              <a:t>L</a:t>
            </a:r>
            <a:r>
              <a:rPr lang="en-US" sz="29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aagdrempelige subsidie.</a:t>
            </a:r>
            <a:endParaRPr sz="1900"/>
          </a:p>
        </p:txBody>
      </p:sp>
      <p:sp>
        <p:nvSpPr>
          <p:cNvPr id="926562200" name="Google Shape;148;p18"/>
          <p:cNvSpPr txBox="1"/>
          <p:nvPr/>
        </p:nvSpPr>
        <p:spPr bwMode="auto">
          <a:xfrm>
            <a:off x="1003549" y="3062094"/>
            <a:ext cx="11261100" cy="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</a:rPr>
              <a:t>Wat: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30% (kleine) of 20% (middelgrote) subsidie voor de pijler </a:t>
            </a:r>
            <a:r>
              <a:rPr lang="en-US" sz="18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'Digitalisering'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</a:t>
            </a:r>
            <a:endParaRPr sz="1900"/>
          </a:p>
        </p:txBody>
      </p:sp>
      <p:sp>
        <p:nvSpPr>
          <p:cNvPr id="322438245" name="Google Shape;149;p18"/>
          <p:cNvSpPr txBox="1"/>
          <p:nvPr/>
        </p:nvSpPr>
        <p:spPr bwMode="auto">
          <a:xfrm>
            <a:off x="1003549" y="3677532"/>
            <a:ext cx="11261100" cy="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</a:rPr>
              <a:t>Toepassing: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</a:t>
            </a:r>
            <a:r>
              <a:rPr lang="en-US" sz="1850">
                <a:solidFill>
                  <a:srgbClr val="F0F0F0"/>
                </a:solidFill>
                <a:latin typeface="Lato"/>
                <a:ea typeface="Lato"/>
                <a:cs typeface="Lato"/>
              </a:rPr>
              <a:t>O.a. 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</a:t>
            </a:r>
            <a:r>
              <a:rPr lang="en-US" sz="1850" b="0" i="1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"Professioneel advies over het gebruik van artificiële intelligentie."</a:t>
            </a:r>
            <a:endParaRPr sz="1900" i="1"/>
          </a:p>
        </p:txBody>
      </p:sp>
      <p:sp>
        <p:nvSpPr>
          <p:cNvPr id="1169959579" name="Google Shape;150;p18"/>
          <p:cNvSpPr txBox="1"/>
          <p:nvPr/>
        </p:nvSpPr>
        <p:spPr bwMode="auto">
          <a:xfrm>
            <a:off x="1003549" y="4292969"/>
            <a:ext cx="11261100" cy="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</a:rPr>
              <a:t>Toepassing: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En "Externe opleidingen over hoe om te gaan met deze nieuwe technologie."</a:t>
            </a:r>
            <a:endParaRPr sz="1900"/>
          </a:p>
        </p:txBody>
      </p:sp>
      <p:sp>
        <p:nvSpPr>
          <p:cNvPr id="1914060340" name="Google Shape;151;p18"/>
          <p:cNvSpPr txBox="1"/>
          <p:nvPr/>
        </p:nvSpPr>
        <p:spPr bwMode="auto">
          <a:xfrm>
            <a:off x="1003549" y="4908407"/>
            <a:ext cx="11261100" cy="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5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</a:rPr>
              <a:t>De Realiteit: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Deze masterclass </a:t>
            </a:r>
            <a:r>
              <a:rPr lang="en-US" sz="18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zelf</a:t>
            </a:r>
            <a:r>
              <a:rPr lang="en-US" sz="1850">
                <a:solidFill>
                  <a:srgbClr val="F0F0F0"/>
                </a:solidFill>
                <a:latin typeface="Lato"/>
                <a:ea typeface="Lato"/>
                <a:cs typeface="Lato"/>
              </a:rPr>
              <a:t> 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komt direct in aanmerking.</a:t>
            </a:r>
            <a:endParaRPr sz="1900"/>
          </a:p>
        </p:txBody>
      </p:sp>
      <p:pic>
        <p:nvPicPr>
          <p:cNvPr id="1257975652" name="Google Shape;152;p18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479774" y="3127566"/>
            <a:ext cx="235698" cy="314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1629881" name="Google Shape;153;p18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79774" y="3743004"/>
            <a:ext cx="392831" cy="314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978263" name="Google Shape;154;p18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479774" y="4358442"/>
            <a:ext cx="392831" cy="314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6139851" name="Google Shape;155;p18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479774" y="4973879"/>
            <a:ext cx="314265" cy="314266"/>
          </a:xfrm>
          <a:prstGeom prst="rect">
            <a:avLst/>
          </a:prstGeom>
          <a:noFill/>
          <a:ln>
            <a:noFill/>
          </a:ln>
        </p:spPr>
      </p:pic>
      <p:sp>
        <p:nvSpPr>
          <p:cNvPr id="581300138" name="Google Shape;156;p18"/>
          <p:cNvSpPr txBox="1"/>
          <p:nvPr/>
        </p:nvSpPr>
        <p:spPr bwMode="auto">
          <a:xfrm>
            <a:off x="571500" y="571500"/>
            <a:ext cx="116016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Financiële Hefboom: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VLAIO KMO-Portefeuille</a:t>
            </a:r>
            <a:endParaRPr/>
          </a:p>
        </p:txBody>
      </p:sp>
      <p:pic>
        <p:nvPicPr>
          <p:cNvPr id="121141752" name="Google Shape;157;p18"/>
          <p:cNvPicPr/>
          <p:nvPr/>
        </p:nvPicPr>
        <p:blipFill rotWithShape="1">
          <a:blip r:embed="rId7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346777" name="Google Shape;162;p19"/>
          <p:cNvSpPr txBox="1"/>
          <p:nvPr/>
        </p:nvSpPr>
        <p:spPr bwMode="auto">
          <a:xfrm>
            <a:off x="3767112" y="4585787"/>
            <a:ext cx="46578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Het Juridisch Doolhof: Verantwoorde AI</a:t>
            </a:r>
            <a:endParaRPr>
              <a:solidFill>
                <a:srgbClr val="F0F0F0"/>
              </a:solidFill>
            </a:endParaRPr>
          </a:p>
        </p:txBody>
      </p:sp>
      <p:pic>
        <p:nvPicPr>
          <p:cNvPr id="2054386363" name="Google Shape;163;p19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345025" y="5393971"/>
            <a:ext cx="2182050" cy="115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16265160" name="Google Shape;164;p19"/>
          <p:cNvSpPr txBox="1"/>
          <p:nvPr/>
        </p:nvSpPr>
        <p:spPr bwMode="auto">
          <a:xfrm>
            <a:off x="4300800" y="2828887"/>
            <a:ext cx="359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Deel</a:t>
            </a:r>
            <a:r>
              <a:rPr lang="en-US" sz="60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lang="en-US" sz="60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1.</a:t>
            </a:r>
            <a:r>
              <a:rPr lang="en-US" sz="6000" b="1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2</a:t>
            </a:r>
            <a:endParaRPr>
              <a:solidFill>
                <a:srgbClr val="D32F2F"/>
              </a:solidFill>
            </a:endParaRPr>
          </a:p>
        </p:txBody>
      </p:sp>
      <p:sp>
        <p:nvSpPr>
          <p:cNvPr id="1470089814" name="Google Shape;165;p19"/>
          <p:cNvSpPr/>
          <p:nvPr/>
        </p:nvSpPr>
        <p:spPr bwMode="auto">
          <a:xfrm>
            <a:off x="5619750" y="3981425"/>
            <a:ext cx="952500" cy="47700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455714" name="Google Shape;170;p20"/>
          <p:cNvSpPr txBox="1"/>
          <p:nvPr/>
        </p:nvSpPr>
        <p:spPr bwMode="auto">
          <a:xfrm>
            <a:off x="264150" y="2152675"/>
            <a:ext cx="11663700" cy="4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1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Specifiek voor de Werkplek (</a:t>
            </a:r>
            <a:r>
              <a:rPr lang="en-US" sz="31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Helpdesk</a:t>
            </a:r>
            <a:r>
              <a:rPr lang="en-US" sz="3100">
                <a:solidFill>
                  <a:srgbClr val="E0E0E0"/>
                </a:solidFill>
                <a:latin typeface="Lato"/>
                <a:ea typeface="Lato"/>
                <a:cs typeface="Lato"/>
              </a:rPr>
              <a:t> Voorbeeld</a:t>
            </a:r>
            <a:r>
              <a:rPr lang="en-US" sz="31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):</a:t>
            </a:r>
            <a:endParaRPr sz="2050"/>
          </a:p>
        </p:txBody>
      </p:sp>
      <p:sp>
        <p:nvSpPr>
          <p:cNvPr id="1665094085" name="Google Shape;171;p20"/>
          <p:cNvSpPr txBox="1"/>
          <p:nvPr/>
        </p:nvSpPr>
        <p:spPr bwMode="auto">
          <a:xfrm>
            <a:off x="935086" y="3154635"/>
            <a:ext cx="11145299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</a:rPr>
              <a:t>Finaliteit (Doelbinding):</a:t>
            </a:r>
            <a:r>
              <a:rPr lang="en-US" sz="20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</a:t>
            </a:r>
            <a:r>
              <a:rPr lang="en-US" sz="2000">
                <a:solidFill>
                  <a:srgbClr val="F0F0F0"/>
                </a:solidFill>
                <a:latin typeface="Lato"/>
                <a:ea typeface="Lato"/>
                <a:cs typeface="Lato"/>
              </a:rPr>
              <a:t>M</a:t>
            </a:r>
            <a:r>
              <a:rPr lang="en-US" sz="20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oet een specifiek doel hebben (bv. </a:t>
            </a:r>
            <a:r>
              <a:rPr lang="en-US" sz="200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"kwaliteitscontrole"</a:t>
            </a:r>
            <a:r>
              <a:rPr lang="en-US" sz="20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).</a:t>
            </a:r>
            <a:endParaRPr sz="2050"/>
          </a:p>
        </p:txBody>
      </p:sp>
      <p:sp>
        <p:nvSpPr>
          <p:cNvPr id="602339422" name="Google Shape;172;p20"/>
          <p:cNvSpPr txBox="1"/>
          <p:nvPr/>
        </p:nvSpPr>
        <p:spPr bwMode="auto">
          <a:xfrm>
            <a:off x="935086" y="3816657"/>
            <a:ext cx="11145299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</a:rPr>
              <a:t>Proportionaliteit:</a:t>
            </a:r>
            <a:r>
              <a:rPr lang="en-US" sz="20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De monitoring mag niet 'buitensporig' zijn.</a:t>
            </a:r>
            <a:endParaRPr sz="2050"/>
          </a:p>
        </p:txBody>
      </p:sp>
      <p:sp>
        <p:nvSpPr>
          <p:cNvPr id="1134649986" name="Google Shape;173;p20"/>
          <p:cNvSpPr txBox="1"/>
          <p:nvPr/>
        </p:nvSpPr>
        <p:spPr bwMode="auto">
          <a:xfrm>
            <a:off x="935086" y="4478678"/>
            <a:ext cx="11145299" cy="768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</a:rPr>
              <a:t>Transparantie:</a:t>
            </a:r>
            <a:r>
              <a:rPr lang="en-US" sz="20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De werknemer </a:t>
            </a:r>
            <a:r>
              <a:rPr lang="en-US" sz="2000" b="1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moet</a:t>
            </a:r>
            <a:r>
              <a:rPr lang="en-US" sz="20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vooraf en duidelijk geïnformeerd zijn. Heimelijke monitoring is verboden.</a:t>
            </a:r>
            <a:endParaRPr sz="2050"/>
          </a:p>
        </p:txBody>
      </p:sp>
      <p:pic>
        <p:nvPicPr>
          <p:cNvPr id="1749445865" name="Google Shape;174;p20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416700" y="3225063"/>
            <a:ext cx="311031" cy="3380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112642" name="Google Shape;175;p20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377813" y="3887084"/>
            <a:ext cx="388789" cy="3380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1523588" name="Google Shape;176;p20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397263" y="4549106"/>
            <a:ext cx="349910" cy="338053"/>
          </a:xfrm>
          <a:prstGeom prst="rect">
            <a:avLst/>
          </a:prstGeom>
          <a:noFill/>
          <a:ln>
            <a:noFill/>
          </a:ln>
        </p:spPr>
      </p:pic>
      <p:sp>
        <p:nvSpPr>
          <p:cNvPr id="569803243" name="Google Shape;177;p20"/>
          <p:cNvSpPr txBox="1"/>
          <p:nvPr/>
        </p:nvSpPr>
        <p:spPr bwMode="auto">
          <a:xfrm>
            <a:off x="416700" y="461600"/>
            <a:ext cx="11358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GDPR &amp; de Gegevensbeschermingsautoriteit </a:t>
            </a:r>
            <a:r>
              <a:rPr lang="en-US" sz="34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(GBA)</a:t>
            </a:r>
            <a:endParaRPr sz="1500">
              <a:solidFill>
                <a:srgbClr val="D32F2F"/>
              </a:solidFill>
            </a:endParaRPr>
          </a:p>
        </p:txBody>
      </p:sp>
      <p:pic>
        <p:nvPicPr>
          <p:cNvPr id="839645822" name="Google Shape;178;p20"/>
          <p:cNvPicPr/>
          <p:nvPr/>
        </p:nvPicPr>
        <p:blipFill rotWithShape="1">
          <a:blip r:embed="rId6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5506022" name="Google Shape;183;p21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571500" y="1827650"/>
            <a:ext cx="5286375" cy="385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48172" name="Google Shape;184;p21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6334125" y="1827650"/>
            <a:ext cx="5286375" cy="38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1396197" name="Google Shape;185;p21"/>
          <p:cNvSpPr txBox="1"/>
          <p:nvPr/>
        </p:nvSpPr>
        <p:spPr bwMode="auto">
          <a:xfrm>
            <a:off x="962025" y="2191650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'Hoog Risico' Systeem</a:t>
            </a:r>
            <a:endParaRPr/>
          </a:p>
        </p:txBody>
      </p:sp>
      <p:sp>
        <p:nvSpPr>
          <p:cNvPr id="1721036529" name="Google Shape;186;p21"/>
          <p:cNvSpPr txBox="1"/>
          <p:nvPr/>
        </p:nvSpPr>
        <p:spPr bwMode="auto">
          <a:xfrm>
            <a:off x="961988" y="2863305"/>
            <a:ext cx="4505400" cy="16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9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De GBA classificeert AI-transcriptie van klant- en </a:t>
            </a:r>
            <a:r>
              <a:rPr lang="en-US" sz="1950">
                <a:solidFill>
                  <a:srgbClr val="F0F0F0"/>
                </a:solidFill>
                <a:latin typeface="Lato"/>
                <a:ea typeface="Lato"/>
                <a:cs typeface="Lato"/>
              </a:rPr>
              <a:t>werknemer gesprekken</a:t>
            </a:r>
            <a:r>
              <a:rPr lang="en-US" sz="19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(zoals in een helpdesk) als een </a:t>
            </a:r>
            <a:r>
              <a:rPr lang="en-US" sz="1950" b="0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'Hoog Risico'</a:t>
            </a:r>
            <a:r>
              <a:rPr lang="en-US" sz="19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AI-systeem.</a:t>
            </a:r>
            <a:endParaRPr sz="2000"/>
          </a:p>
        </p:txBody>
      </p:sp>
      <p:sp>
        <p:nvSpPr>
          <p:cNvPr id="1425124666" name="Google Shape;187;p21"/>
          <p:cNvSpPr txBox="1"/>
          <p:nvPr/>
        </p:nvSpPr>
        <p:spPr bwMode="auto">
          <a:xfrm>
            <a:off x="6724649" y="2191650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Direct Gevolg</a:t>
            </a:r>
            <a:endParaRPr/>
          </a:p>
        </p:txBody>
      </p:sp>
      <p:sp>
        <p:nvSpPr>
          <p:cNvPr id="1269881675" name="Google Shape;188;p21"/>
          <p:cNvSpPr txBox="1"/>
          <p:nvPr/>
        </p:nvSpPr>
        <p:spPr bwMode="auto">
          <a:xfrm>
            <a:off x="6724613" y="2863305"/>
            <a:ext cx="4505400" cy="750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950">
                <a:solidFill>
                  <a:srgbClr val="F0F0F0"/>
                </a:solidFill>
                <a:latin typeface="Lato"/>
                <a:ea typeface="Lato"/>
                <a:cs typeface="Lato"/>
              </a:rPr>
              <a:t>Noodzaak voor</a:t>
            </a:r>
            <a:r>
              <a:rPr lang="en-US" sz="19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Data Protection Impact Assessment </a:t>
            </a:r>
            <a:r>
              <a:rPr lang="en-US" sz="1950" b="0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(DPIA)</a:t>
            </a:r>
            <a:r>
              <a:rPr lang="en-US" sz="19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</a:t>
            </a:r>
            <a:endParaRPr sz="2000"/>
          </a:p>
        </p:txBody>
      </p:sp>
      <p:sp>
        <p:nvSpPr>
          <p:cNvPr id="1639762916" name="Google Shape;189;p21"/>
          <p:cNvSpPr txBox="1"/>
          <p:nvPr/>
        </p:nvSpPr>
        <p:spPr bwMode="auto">
          <a:xfrm>
            <a:off x="6724625" y="3885351"/>
            <a:ext cx="4505400" cy="16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9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En cruciaal: het vereist de technische implementatie van </a:t>
            </a:r>
            <a:r>
              <a:rPr lang="en-US" sz="19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effectief menselijk toezicht (HITL)</a:t>
            </a:r>
            <a:r>
              <a:rPr lang="en-US" sz="19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 Een 'black box' AI is non-compliant.</a:t>
            </a:r>
            <a:endParaRPr sz="2000"/>
          </a:p>
        </p:txBody>
      </p:sp>
      <p:sp>
        <p:nvSpPr>
          <p:cNvPr id="54267816" name="Google Shape;190;p21"/>
          <p:cNvSpPr txBox="1"/>
          <p:nvPr/>
        </p:nvSpPr>
        <p:spPr bwMode="auto">
          <a:xfrm>
            <a:off x="3304949" y="571500"/>
            <a:ext cx="5582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 Harde Lijn van de </a:t>
            </a:r>
            <a:r>
              <a:rPr lang="en-US" sz="34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GBA</a:t>
            </a:r>
            <a:endParaRPr sz="1500">
              <a:solidFill>
                <a:srgbClr val="D32F2F"/>
              </a:solidFill>
            </a:endParaRPr>
          </a:p>
        </p:txBody>
      </p:sp>
      <p:pic>
        <p:nvPicPr>
          <p:cNvPr id="170517424" name="Google Shape;191;p21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835108265" name="Google Shape;196;p22"/>
          <p:cNvGraphicFramePr>
            <a:graphicFrameLocks xmlns:a="http://schemas.openxmlformats.org/drawingml/2006/main"/>
          </p:cNvGraphicFramePr>
          <p:nvPr/>
        </p:nvGraphicFramePr>
        <p:xfrm rot="0">
          <a:off x="571500" y="2395537"/>
          <a:ext cx="3000000" cy="300000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{D837DDF1-D1F1-4667-93B5-6782D489C5F1}</a:tableStyleId>
                <a:noFill/>
              </a:tblPr>
              <a:tblGrid>
                <a:gridCol w="1868975"/>
                <a:gridCol w="3015100"/>
                <a:gridCol w="2333625"/>
                <a:gridCol w="3831274"/>
              </a:tblGrid>
              <a:tr h="613400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600" b="1" i="0" u="none" strike="noStrike" cap="non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</a:rPr>
                        <a:t>Risiconiveau</a:t>
                      </a:r>
                      <a:endParaRPr sz="1500">
                        <a:solidFill>
                          <a:srgbClr val="0F172A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39C0A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600" b="1" i="0" u="none" strike="noStrike" cap="non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</a:rPr>
                        <a:t>Voorbeeld</a:t>
                      </a:r>
                      <a:endParaRPr sz="1500">
                        <a:solidFill>
                          <a:srgbClr val="0F172A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39C0A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600" b="1" i="0" u="none" strike="noStrike" cap="non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</a:rPr>
                        <a:t>Deadline (Actief)</a:t>
                      </a:r>
                      <a:endParaRPr sz="1500">
                        <a:solidFill>
                          <a:srgbClr val="0F172A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39C0A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600" b="1" i="0" u="none" strike="noStrike" cap="non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</a:rPr>
                        <a:t>Gevolg voor Professionals</a:t>
                      </a:r>
                      <a:endParaRPr sz="1500">
                        <a:solidFill>
                          <a:srgbClr val="0F172A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39C0A"/>
                    </a:solidFill>
                  </a:tcPr>
                </a:tc>
              </a:tr>
              <a:tr h="613400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Onaanvaardbaar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Emotieherkenning werkplek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Feb 2025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Per direct </a:t>
                      </a: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verboden</a:t>
                      </a: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. Stop R&amp;D.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613400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GPAI-Modellen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GPT-4, Llama 3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Aug 2025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Technische documentatie publiceren.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</a:tr>
              <a:tr h="613400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Hoog Risico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AI in HR, Helpdesk-transcriptie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Aug 2026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Vereist DPIA, governance, </a:t>
                      </a: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HITL</a:t>
                      </a: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.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613400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1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Beperkt Risico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Chatbots (transparantie)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Aug 2026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Gebruiker informeren: "U spreekt met AI".</a:t>
                      </a:r>
                      <a:endParaRPr sz="1500"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</a:tr>
            </a:tbl>
          </a:graphicData>
        </a:graphic>
      </p:graphicFrame>
      <p:sp>
        <p:nvSpPr>
          <p:cNvPr id="84622408" name="Google Shape;197;p22"/>
          <p:cNvSpPr/>
          <p:nvPr/>
        </p:nvSpPr>
        <p:spPr bwMode="auto">
          <a:xfrm>
            <a:off x="571500" y="3019425"/>
            <a:ext cx="1868983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30872055" name="Google Shape;198;p22"/>
          <p:cNvSpPr/>
          <p:nvPr/>
        </p:nvSpPr>
        <p:spPr bwMode="auto">
          <a:xfrm>
            <a:off x="2440483" y="3019425"/>
            <a:ext cx="3015108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59183389" name="Google Shape;199;p22"/>
          <p:cNvSpPr/>
          <p:nvPr/>
        </p:nvSpPr>
        <p:spPr bwMode="auto">
          <a:xfrm>
            <a:off x="5455592" y="3019425"/>
            <a:ext cx="2333625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62975508" name="Google Shape;200;p22"/>
          <p:cNvSpPr/>
          <p:nvPr/>
        </p:nvSpPr>
        <p:spPr bwMode="auto">
          <a:xfrm>
            <a:off x="7789217" y="3019425"/>
            <a:ext cx="383128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07850633" name="Google Shape;201;p22"/>
          <p:cNvSpPr/>
          <p:nvPr/>
        </p:nvSpPr>
        <p:spPr bwMode="auto">
          <a:xfrm>
            <a:off x="571500" y="3629025"/>
            <a:ext cx="1868983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05330051" name="Google Shape;202;p22"/>
          <p:cNvSpPr/>
          <p:nvPr/>
        </p:nvSpPr>
        <p:spPr bwMode="auto">
          <a:xfrm>
            <a:off x="2440483" y="3629025"/>
            <a:ext cx="3015108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2218222" name="Google Shape;203;p22"/>
          <p:cNvSpPr/>
          <p:nvPr/>
        </p:nvSpPr>
        <p:spPr bwMode="auto">
          <a:xfrm>
            <a:off x="5455592" y="3629025"/>
            <a:ext cx="2333625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4546557" name="Google Shape;204;p22"/>
          <p:cNvSpPr/>
          <p:nvPr/>
        </p:nvSpPr>
        <p:spPr bwMode="auto">
          <a:xfrm>
            <a:off x="7789217" y="3629025"/>
            <a:ext cx="383128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6537322" name="Google Shape;205;p22"/>
          <p:cNvSpPr/>
          <p:nvPr/>
        </p:nvSpPr>
        <p:spPr bwMode="auto">
          <a:xfrm>
            <a:off x="571500" y="4238625"/>
            <a:ext cx="1868983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598763" name="Google Shape;206;p22"/>
          <p:cNvSpPr/>
          <p:nvPr/>
        </p:nvSpPr>
        <p:spPr bwMode="auto">
          <a:xfrm>
            <a:off x="2440483" y="4238625"/>
            <a:ext cx="3015108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00124478" name="Google Shape;207;p22"/>
          <p:cNvSpPr/>
          <p:nvPr/>
        </p:nvSpPr>
        <p:spPr bwMode="auto">
          <a:xfrm>
            <a:off x="5455592" y="4238625"/>
            <a:ext cx="2333625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82876633" name="Google Shape;208;p22"/>
          <p:cNvSpPr/>
          <p:nvPr/>
        </p:nvSpPr>
        <p:spPr bwMode="auto">
          <a:xfrm>
            <a:off x="7789217" y="4238625"/>
            <a:ext cx="383128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79791507" name="Google Shape;209;p22"/>
          <p:cNvSpPr/>
          <p:nvPr/>
        </p:nvSpPr>
        <p:spPr bwMode="auto">
          <a:xfrm>
            <a:off x="571500" y="4848225"/>
            <a:ext cx="1868983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7755970" name="Google Shape;210;p22"/>
          <p:cNvSpPr/>
          <p:nvPr/>
        </p:nvSpPr>
        <p:spPr bwMode="auto">
          <a:xfrm>
            <a:off x="2440483" y="4848225"/>
            <a:ext cx="3015108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21923858" name="Google Shape;211;p22"/>
          <p:cNvSpPr/>
          <p:nvPr/>
        </p:nvSpPr>
        <p:spPr bwMode="auto">
          <a:xfrm>
            <a:off x="5455592" y="4848225"/>
            <a:ext cx="2333625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4593046" name="Google Shape;212;p22"/>
          <p:cNvSpPr/>
          <p:nvPr/>
        </p:nvSpPr>
        <p:spPr bwMode="auto">
          <a:xfrm>
            <a:off x="7789217" y="4848225"/>
            <a:ext cx="383128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60914744" name="Google Shape;213;p22"/>
          <p:cNvSpPr txBox="1"/>
          <p:nvPr/>
        </p:nvSpPr>
        <p:spPr bwMode="auto">
          <a:xfrm>
            <a:off x="571500" y="571500"/>
            <a:ext cx="116016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De EU AI Act: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Tijdlijn en Risico's</a:t>
            </a:r>
            <a:endParaRPr/>
          </a:p>
        </p:txBody>
      </p:sp>
      <p:pic>
        <p:nvPicPr>
          <p:cNvPr id="1342314694" name="Google Shape;214;p22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6321354" name="Google Shape;219;p23"/>
          <p:cNvSpPr txBox="1"/>
          <p:nvPr/>
        </p:nvSpPr>
        <p:spPr bwMode="auto">
          <a:xfrm>
            <a:off x="571500" y="1371200"/>
            <a:ext cx="8859900" cy="7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De kernzorg bij PII/PHI is dat data wordt gebruikt voor </a:t>
            </a:r>
            <a:r>
              <a:rPr lang="en-US" sz="1850" b="1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model-training</a:t>
            </a:r>
            <a:r>
              <a:rPr lang="en-US" sz="18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 </a:t>
            </a:r>
            <a:endParaRPr sz="1850" b="0" i="0" u="none" strike="noStrike" cap="none">
              <a:solidFill>
                <a:srgbClr val="F0F0F0"/>
              </a:solidFill>
              <a:latin typeface="Lato"/>
              <a:ea typeface="Lato"/>
              <a:cs typeface="Lat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De oplossing:</a:t>
            </a:r>
            <a:endParaRPr sz="2200"/>
          </a:p>
        </p:txBody>
      </p:sp>
      <p:sp>
        <p:nvSpPr>
          <p:cNvPr id="1002616514" name="Google Shape;220;p23"/>
          <p:cNvSpPr txBox="1"/>
          <p:nvPr/>
        </p:nvSpPr>
        <p:spPr bwMode="auto">
          <a:xfrm>
            <a:off x="571500" y="2374912"/>
            <a:ext cx="5550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1. Contractueel:</a:t>
            </a:r>
            <a:r>
              <a:rPr lang="en-US" sz="21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'No-Train' Garantie</a:t>
            </a:r>
            <a:endParaRPr/>
          </a:p>
        </p:txBody>
      </p:sp>
      <p:sp>
        <p:nvSpPr>
          <p:cNvPr id="1886349467" name="Google Shape;221;p23"/>
          <p:cNvSpPr txBox="1"/>
          <p:nvPr/>
        </p:nvSpPr>
        <p:spPr bwMode="auto">
          <a:xfrm>
            <a:off x="703650" y="2879612"/>
            <a:ext cx="52863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Enterprise-abonnementen (M365 Copilot, ChatGPT Enterprise) bieden een contractuele belofte dat uw data </a:t>
            </a:r>
            <a:r>
              <a:rPr lang="en-US" sz="1650" b="1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niet</a:t>
            </a: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wordt gebruikt om de fundamentele modellen te trainen.</a:t>
            </a:r>
            <a:endParaRPr sz="1700"/>
          </a:p>
        </p:txBody>
      </p:sp>
      <p:sp>
        <p:nvSpPr>
          <p:cNvPr id="824629047" name="Google Shape;222;p23"/>
          <p:cNvSpPr txBox="1"/>
          <p:nvPr/>
        </p:nvSpPr>
        <p:spPr bwMode="auto">
          <a:xfrm>
            <a:off x="571500" y="4458012"/>
            <a:ext cx="5550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2. Technisch: </a:t>
            </a:r>
            <a:r>
              <a:rPr lang="en-US" sz="21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'Tenant Isolatie'</a:t>
            </a:r>
            <a:endParaRPr/>
          </a:p>
        </p:txBody>
      </p:sp>
      <p:sp>
        <p:nvSpPr>
          <p:cNvPr id="1267231792" name="Google Shape;223;p23"/>
          <p:cNvSpPr txBox="1"/>
          <p:nvPr/>
        </p:nvSpPr>
        <p:spPr bwMode="auto">
          <a:xfrm>
            <a:off x="703700" y="5043312"/>
            <a:ext cx="5286300" cy="1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Uw data blijft binnen uw geïsoleerde tenant, beschermd door encryptie en compliance-controles zoals de EU Data Boundary (GDPR).</a:t>
            </a:r>
            <a:endParaRPr sz="1800"/>
          </a:p>
        </p:txBody>
      </p:sp>
      <p:pic>
        <p:nvPicPr>
          <p:cNvPr id="1043040232" name="Google Shape;224;p23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6334125" y="1785937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74674302" name="Google Shape;225;p23"/>
          <p:cNvSpPr txBox="1"/>
          <p:nvPr/>
        </p:nvSpPr>
        <p:spPr bwMode="auto">
          <a:xfrm>
            <a:off x="571500" y="571500"/>
            <a:ext cx="116016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Privacy Garanties: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De </a:t>
            </a:r>
            <a:r>
              <a:rPr lang="en-US" sz="33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Verdediging Linie</a:t>
            </a:r>
            <a:endParaRPr/>
          </a:p>
        </p:txBody>
      </p:sp>
      <p:pic>
        <p:nvPicPr>
          <p:cNvPr id="459728632" name="Google Shape;226;p23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8583729" name="Google Shape;231;p24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571500" y="1962150"/>
            <a:ext cx="5286375" cy="34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9455277" name="Google Shape;232;p24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6334125" y="1962150"/>
            <a:ext cx="5286375" cy="34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4502376" name="Google Shape;233;p24"/>
          <p:cNvSpPr txBox="1"/>
          <p:nvPr/>
        </p:nvSpPr>
        <p:spPr bwMode="auto">
          <a:xfrm>
            <a:off x="962025" y="2389534"/>
            <a:ext cx="47307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Scenario 1: On-Premise (Self-Hosting)</a:t>
            </a:r>
            <a:endParaRPr/>
          </a:p>
        </p:txBody>
      </p:sp>
      <p:sp>
        <p:nvSpPr>
          <p:cNvPr id="1913921476" name="Google Shape;234;p24"/>
          <p:cNvSpPr txBox="1"/>
          <p:nvPr/>
        </p:nvSpPr>
        <p:spPr bwMode="auto">
          <a:xfrm>
            <a:off x="962025" y="3452783"/>
            <a:ext cx="4505400" cy="1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Vanaf aug 2025 ligt de </a:t>
            </a:r>
            <a:r>
              <a:rPr lang="en-US" sz="1750" b="0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(extreem zware)</a:t>
            </a:r>
            <a:r>
              <a:rPr lang="en-US" sz="17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juridische bewijslast om EU-auteursrecht te bewijzen </a:t>
            </a:r>
            <a:r>
              <a:rPr lang="en-US" sz="17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volledig bij u en uw klant</a:t>
            </a:r>
            <a:r>
              <a:rPr lang="en-US" sz="17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</a:t>
            </a:r>
            <a:endParaRPr sz="1800"/>
          </a:p>
        </p:txBody>
      </p:sp>
      <p:sp>
        <p:nvSpPr>
          <p:cNvPr id="1693526404" name="Google Shape;235;p24"/>
          <p:cNvSpPr txBox="1"/>
          <p:nvPr/>
        </p:nvSpPr>
        <p:spPr bwMode="auto">
          <a:xfrm>
            <a:off x="962025" y="4723479"/>
            <a:ext cx="4505400" cy="2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50">
                <a:solidFill>
                  <a:srgbClr val="F0F0F0"/>
                </a:solidFill>
                <a:latin typeface="Lato"/>
                <a:ea typeface="Lato"/>
                <a:cs typeface="Lato"/>
              </a:rPr>
              <a:t>B</a:t>
            </a:r>
            <a:r>
              <a:rPr lang="en-US" sz="17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ijna onmogelijke last.</a:t>
            </a:r>
            <a:endParaRPr sz="1800"/>
          </a:p>
        </p:txBody>
      </p:sp>
      <p:sp>
        <p:nvSpPr>
          <p:cNvPr id="826038044" name="Google Shape;236;p24"/>
          <p:cNvSpPr txBox="1"/>
          <p:nvPr/>
        </p:nvSpPr>
        <p:spPr bwMode="auto">
          <a:xfrm>
            <a:off x="6724649" y="2389534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Scenario 2: Cloud API (Managed)</a:t>
            </a:r>
            <a:endParaRPr/>
          </a:p>
        </p:txBody>
      </p:sp>
      <p:sp>
        <p:nvSpPr>
          <p:cNvPr id="1580364036" name="Google Shape;237;p24"/>
          <p:cNvSpPr txBox="1"/>
          <p:nvPr/>
        </p:nvSpPr>
        <p:spPr bwMode="auto">
          <a:xfrm>
            <a:off x="6724649" y="3452783"/>
            <a:ext cx="4505400" cy="14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U gebruikt Azure OpenAI. De complexe juridische en technische bewijslast wordt </a:t>
            </a:r>
            <a:r>
              <a:rPr lang="en-US" sz="17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verschoven naar de provider</a:t>
            </a:r>
            <a:r>
              <a:rPr lang="en-US" sz="17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(Microsoft, Google).</a:t>
            </a:r>
            <a:endParaRPr sz="1800"/>
          </a:p>
        </p:txBody>
      </p:sp>
      <p:sp>
        <p:nvSpPr>
          <p:cNvPr id="1022470997" name="Google Shape;238;p24"/>
          <p:cNvSpPr txBox="1"/>
          <p:nvPr/>
        </p:nvSpPr>
        <p:spPr bwMode="auto">
          <a:xfrm>
            <a:off x="571500" y="571500"/>
            <a:ext cx="116016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De 'Compliance Tax'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: Verborgen Kost On-Premise</a:t>
            </a:r>
            <a:endParaRPr/>
          </a:p>
        </p:txBody>
      </p:sp>
      <p:sp>
        <p:nvSpPr>
          <p:cNvPr id="1733106971" name="Google Shape;239;p24"/>
          <p:cNvSpPr txBox="1"/>
          <p:nvPr/>
        </p:nvSpPr>
        <p:spPr bwMode="auto">
          <a:xfrm>
            <a:off x="1992900" y="5528900"/>
            <a:ext cx="8206200" cy="8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De 'per-token'-kost is ook een </a:t>
            </a:r>
            <a:r>
              <a:rPr lang="en-US" sz="2150" b="1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verzekeringspremie</a:t>
            </a:r>
            <a:r>
              <a:rPr lang="en-US" sz="21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tegen de </a:t>
            </a:r>
            <a:r>
              <a:rPr lang="en-US" sz="2150" b="0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'Compliance Tax'</a:t>
            </a:r>
            <a:r>
              <a:rPr lang="en-US" sz="21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</a:t>
            </a:r>
            <a:endParaRPr sz="1900"/>
          </a:p>
        </p:txBody>
      </p:sp>
      <p:pic>
        <p:nvPicPr>
          <p:cNvPr id="445734243" name="Google Shape;240;p24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756440" name="Google Shape;245;p25"/>
          <p:cNvSpPr txBox="1"/>
          <p:nvPr/>
        </p:nvSpPr>
        <p:spPr bwMode="auto">
          <a:xfrm>
            <a:off x="4210764" y="2252662"/>
            <a:ext cx="377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Deel</a:t>
            </a:r>
            <a:r>
              <a:rPr lang="en-US" sz="60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lang="en-US" sz="60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1.3</a:t>
            </a:r>
            <a:endParaRPr>
              <a:solidFill>
                <a:srgbClr val="D32F2F"/>
              </a:solidFill>
            </a:endParaRPr>
          </a:p>
        </p:txBody>
      </p:sp>
      <p:sp>
        <p:nvSpPr>
          <p:cNvPr id="1739907896" name="Google Shape;246;p25"/>
          <p:cNvSpPr/>
          <p:nvPr/>
        </p:nvSpPr>
        <p:spPr bwMode="auto">
          <a:xfrm>
            <a:off x="5619750" y="3871912"/>
            <a:ext cx="952500" cy="476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92776962" name="Google Shape;247;p25"/>
          <p:cNvSpPr txBox="1"/>
          <p:nvPr/>
        </p:nvSpPr>
        <p:spPr bwMode="auto">
          <a:xfrm>
            <a:off x="3810000" y="4205287"/>
            <a:ext cx="4572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De TCO-Analyse: Cloud vs. On-Premise</a:t>
            </a:r>
            <a:endParaRPr/>
          </a:p>
        </p:txBody>
      </p:sp>
      <p:pic>
        <p:nvPicPr>
          <p:cNvPr id="1651557483" name="Google Shape;248;p25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345025" y="5393971"/>
            <a:ext cx="2182050" cy="115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5907128" name="Google Shape;253;p26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571500" y="1424675"/>
            <a:ext cx="5286375" cy="435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5465735" name="Google Shape;254;p26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6334125" y="1424675"/>
            <a:ext cx="5286375" cy="43595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007294" name="Google Shape;255;p26"/>
          <p:cNvSpPr txBox="1"/>
          <p:nvPr/>
        </p:nvSpPr>
        <p:spPr bwMode="auto">
          <a:xfrm>
            <a:off x="962025" y="2006892"/>
            <a:ext cx="4730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Voordelen</a:t>
            </a:r>
            <a:endParaRPr sz="1600"/>
          </a:p>
        </p:txBody>
      </p:sp>
      <p:sp>
        <p:nvSpPr>
          <p:cNvPr id="1241500317" name="Google Shape;256;p26"/>
          <p:cNvSpPr txBox="1"/>
          <p:nvPr/>
        </p:nvSpPr>
        <p:spPr bwMode="auto">
          <a:xfrm>
            <a:off x="6724649" y="2006892"/>
            <a:ext cx="47307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Nadelen (De Verborgen Kosten)</a:t>
            </a:r>
            <a:endParaRPr sz="1600"/>
          </a:p>
        </p:txBody>
      </p:sp>
      <p:sp>
        <p:nvSpPr>
          <p:cNvPr id="1241795898" name="Google Shape;257;p26"/>
          <p:cNvSpPr txBox="1"/>
          <p:nvPr/>
        </p:nvSpPr>
        <p:spPr bwMode="auto">
          <a:xfrm>
            <a:off x="1104900" y="2816315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569615688" name="Google Shape;258;p26"/>
          <p:cNvSpPr txBox="1"/>
          <p:nvPr/>
        </p:nvSpPr>
        <p:spPr bwMode="auto">
          <a:xfrm>
            <a:off x="1200150" y="2816315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Lage initiële CapEx (geen hardware).</a:t>
            </a:r>
            <a:endParaRPr sz="1600"/>
          </a:p>
        </p:txBody>
      </p:sp>
      <p:sp>
        <p:nvSpPr>
          <p:cNvPr id="1388972728" name="Google Shape;259;p26"/>
          <p:cNvSpPr txBox="1"/>
          <p:nvPr/>
        </p:nvSpPr>
        <p:spPr bwMode="auto">
          <a:xfrm>
            <a:off x="1104900" y="3412732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950403305" name="Google Shape;260;p26"/>
          <p:cNvSpPr txBox="1"/>
          <p:nvPr/>
        </p:nvSpPr>
        <p:spPr bwMode="auto">
          <a:xfrm>
            <a:off x="1200150" y="3412732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Directe toegang tot SOTA-modellen.</a:t>
            </a:r>
            <a:endParaRPr sz="1600"/>
          </a:p>
        </p:txBody>
      </p:sp>
      <p:sp>
        <p:nvSpPr>
          <p:cNvPr id="47437405" name="Google Shape;261;p26"/>
          <p:cNvSpPr txBox="1"/>
          <p:nvPr/>
        </p:nvSpPr>
        <p:spPr bwMode="auto">
          <a:xfrm>
            <a:off x="1104900" y="4009149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919391887" name="Google Shape;262;p26"/>
          <p:cNvSpPr txBox="1"/>
          <p:nvPr/>
        </p:nvSpPr>
        <p:spPr bwMode="auto">
          <a:xfrm>
            <a:off x="1200150" y="4009149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Elastische schaalbaarheid.</a:t>
            </a:r>
            <a:endParaRPr sz="1600"/>
          </a:p>
        </p:txBody>
      </p:sp>
      <p:sp>
        <p:nvSpPr>
          <p:cNvPr id="858456359" name="Google Shape;263;p26"/>
          <p:cNvSpPr txBox="1"/>
          <p:nvPr/>
        </p:nvSpPr>
        <p:spPr bwMode="auto">
          <a:xfrm>
            <a:off x="1104900" y="4605566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123406017" name="Google Shape;264;p26"/>
          <p:cNvSpPr txBox="1"/>
          <p:nvPr/>
        </p:nvSpPr>
        <p:spPr bwMode="auto">
          <a:xfrm>
            <a:off x="1200150" y="4605566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Juridische 'Compliance Tax' verschoven.</a:t>
            </a:r>
            <a:endParaRPr sz="1600"/>
          </a:p>
        </p:txBody>
      </p:sp>
      <p:sp>
        <p:nvSpPr>
          <p:cNvPr id="218441525" name="Google Shape;265;p26"/>
          <p:cNvSpPr txBox="1"/>
          <p:nvPr/>
        </p:nvSpPr>
        <p:spPr bwMode="auto">
          <a:xfrm>
            <a:off x="6867524" y="2816315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906432914" name="Google Shape;266;p26"/>
          <p:cNvSpPr txBox="1"/>
          <p:nvPr/>
        </p:nvSpPr>
        <p:spPr bwMode="auto">
          <a:xfrm>
            <a:off x="6962775" y="2816315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Onvoorspelbare kosten.</a:t>
            </a:r>
            <a:endParaRPr sz="1600"/>
          </a:p>
        </p:txBody>
      </p:sp>
      <p:sp>
        <p:nvSpPr>
          <p:cNvPr id="1902910277" name="Google Shape;267;p26"/>
          <p:cNvSpPr txBox="1"/>
          <p:nvPr/>
        </p:nvSpPr>
        <p:spPr bwMode="auto">
          <a:xfrm>
            <a:off x="6867524" y="3412732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24107062" name="Google Shape;268;p26"/>
          <p:cNvSpPr txBox="1"/>
          <p:nvPr/>
        </p:nvSpPr>
        <p:spPr bwMode="auto">
          <a:xfrm>
            <a:off x="6962775" y="3412732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Verborgen Multipliers (Output-tokens duurder).</a:t>
            </a:r>
            <a:endParaRPr sz="1600"/>
          </a:p>
        </p:txBody>
      </p:sp>
      <p:sp>
        <p:nvSpPr>
          <p:cNvPr id="1835245133" name="Google Shape;269;p26"/>
          <p:cNvSpPr txBox="1"/>
          <p:nvPr/>
        </p:nvSpPr>
        <p:spPr bwMode="auto">
          <a:xfrm>
            <a:off x="6867524" y="4009149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867853866" name="Google Shape;270;p26"/>
          <p:cNvSpPr txBox="1"/>
          <p:nvPr/>
        </p:nvSpPr>
        <p:spPr bwMode="auto">
          <a:xfrm>
            <a:off x="6962775" y="4009149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Vendor Lock-in.</a:t>
            </a:r>
            <a:endParaRPr sz="1600"/>
          </a:p>
        </p:txBody>
      </p:sp>
      <p:sp>
        <p:nvSpPr>
          <p:cNvPr id="909899397" name="Google Shape;271;p26"/>
          <p:cNvSpPr txBox="1"/>
          <p:nvPr/>
        </p:nvSpPr>
        <p:spPr bwMode="auto">
          <a:xfrm>
            <a:off x="6867524" y="4605566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929449730" name="Google Shape;272;p26"/>
          <p:cNvSpPr txBox="1"/>
          <p:nvPr/>
        </p:nvSpPr>
        <p:spPr bwMode="auto">
          <a:xfrm>
            <a:off x="6962775" y="4605566"/>
            <a:ext cx="4267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Data Soevereiniteit (data verlaat netwerk).</a:t>
            </a:r>
            <a:endParaRPr sz="1600"/>
          </a:p>
        </p:txBody>
      </p:sp>
      <p:sp>
        <p:nvSpPr>
          <p:cNvPr id="587932536" name="Google Shape;273;p26"/>
          <p:cNvSpPr txBox="1"/>
          <p:nvPr/>
        </p:nvSpPr>
        <p:spPr bwMode="auto">
          <a:xfrm>
            <a:off x="571500" y="571500"/>
            <a:ext cx="116016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TCO-Analyse: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Model 1 (Cloud / OpEx)</a:t>
            </a:r>
            <a:endParaRPr/>
          </a:p>
        </p:txBody>
      </p:sp>
      <p:pic>
        <p:nvPicPr>
          <p:cNvPr id="1510022868" name="Google Shape;274;p26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9954447" name="Google Shape;279;p27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571500" y="1632275"/>
            <a:ext cx="5286375" cy="380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63933" name="Google Shape;280;p2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6334125" y="1632275"/>
            <a:ext cx="5286375" cy="3803825"/>
          </a:xfrm>
          <a:prstGeom prst="rect">
            <a:avLst/>
          </a:prstGeom>
          <a:noFill/>
          <a:ln>
            <a:noFill/>
          </a:ln>
        </p:spPr>
      </p:pic>
      <p:sp>
        <p:nvSpPr>
          <p:cNvPr id="724413946" name="Google Shape;281;p27"/>
          <p:cNvSpPr txBox="1"/>
          <p:nvPr/>
        </p:nvSpPr>
        <p:spPr bwMode="auto">
          <a:xfrm>
            <a:off x="962025" y="2121168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Voordelen</a:t>
            </a:r>
            <a:endParaRPr/>
          </a:p>
        </p:txBody>
      </p:sp>
      <p:sp>
        <p:nvSpPr>
          <p:cNvPr id="1518542370" name="Google Shape;282;p27"/>
          <p:cNvSpPr txBox="1"/>
          <p:nvPr/>
        </p:nvSpPr>
        <p:spPr bwMode="auto">
          <a:xfrm>
            <a:off x="6724649" y="2121168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Nadelen (De Échte TCO)</a:t>
            </a:r>
            <a:endParaRPr/>
          </a:p>
        </p:txBody>
      </p:sp>
      <p:sp>
        <p:nvSpPr>
          <p:cNvPr id="1308473272" name="Google Shape;283;p27"/>
          <p:cNvSpPr txBox="1"/>
          <p:nvPr/>
        </p:nvSpPr>
        <p:spPr bwMode="auto">
          <a:xfrm>
            <a:off x="1104900" y="2800848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191235222" name="Google Shape;284;p27"/>
          <p:cNvSpPr txBox="1"/>
          <p:nvPr/>
        </p:nvSpPr>
        <p:spPr bwMode="auto">
          <a:xfrm>
            <a:off x="1200150" y="2800848"/>
            <a:ext cx="42672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Maximale Controle &amp; Data Soevereiniteit.</a:t>
            </a:r>
            <a:endParaRPr sz="1700"/>
          </a:p>
        </p:txBody>
      </p:sp>
      <p:sp>
        <p:nvSpPr>
          <p:cNvPr id="1437393290" name="Google Shape;285;p27"/>
          <p:cNvSpPr txBox="1"/>
          <p:nvPr/>
        </p:nvSpPr>
        <p:spPr bwMode="auto">
          <a:xfrm>
            <a:off x="1104900" y="3301665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893271847" name="Google Shape;286;p27"/>
          <p:cNvSpPr txBox="1"/>
          <p:nvPr/>
        </p:nvSpPr>
        <p:spPr bwMode="auto">
          <a:xfrm>
            <a:off x="1200150" y="3301665"/>
            <a:ext cx="42672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Eenvoudigste GDPR-pad (data verlaat nooit).</a:t>
            </a:r>
            <a:endParaRPr sz="1700"/>
          </a:p>
        </p:txBody>
      </p:sp>
      <p:sp>
        <p:nvSpPr>
          <p:cNvPr id="1295908114" name="Google Shape;287;p27"/>
          <p:cNvSpPr txBox="1"/>
          <p:nvPr/>
        </p:nvSpPr>
        <p:spPr bwMode="auto">
          <a:xfrm>
            <a:off x="1104900" y="3802482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473257774" name="Google Shape;288;p27"/>
          <p:cNvSpPr txBox="1"/>
          <p:nvPr/>
        </p:nvSpPr>
        <p:spPr bwMode="auto">
          <a:xfrm>
            <a:off x="1200150" y="3802482"/>
            <a:ext cx="42672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Voorspelbare kosten (na aankoop).</a:t>
            </a:r>
            <a:endParaRPr sz="1700"/>
          </a:p>
        </p:txBody>
      </p:sp>
      <p:sp>
        <p:nvSpPr>
          <p:cNvPr id="1948143765" name="Google Shape;289;p27"/>
          <p:cNvSpPr txBox="1"/>
          <p:nvPr/>
        </p:nvSpPr>
        <p:spPr bwMode="auto">
          <a:xfrm>
            <a:off x="6867524" y="2800848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925281026" name="Google Shape;290;p27"/>
          <p:cNvSpPr txBox="1"/>
          <p:nvPr/>
        </p:nvSpPr>
        <p:spPr bwMode="auto">
          <a:xfrm>
            <a:off x="6962775" y="2800848"/>
            <a:ext cx="42672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Stroom &amp; Koeling:</a:t>
            </a: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&gt;17kW, tienduizenden euro's/jaar extra energiefactuur.</a:t>
            </a:r>
            <a:endParaRPr sz="1700"/>
          </a:p>
        </p:txBody>
      </p:sp>
      <p:sp>
        <p:nvSpPr>
          <p:cNvPr id="1865786568" name="Google Shape;291;p27"/>
          <p:cNvSpPr txBox="1"/>
          <p:nvPr/>
        </p:nvSpPr>
        <p:spPr bwMode="auto">
          <a:xfrm>
            <a:off x="6867524" y="3623619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618429986" name="Google Shape;292;p27"/>
          <p:cNvSpPr txBox="1"/>
          <p:nvPr/>
        </p:nvSpPr>
        <p:spPr bwMode="auto">
          <a:xfrm>
            <a:off x="6962775" y="3623619"/>
            <a:ext cx="42672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De 'DevOps Tax':</a:t>
            </a: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Grootste kost. Fulltime MLOps/Security team (€800k+/jaar).</a:t>
            </a:r>
            <a:endParaRPr sz="1700"/>
          </a:p>
        </p:txBody>
      </p:sp>
      <p:sp>
        <p:nvSpPr>
          <p:cNvPr id="1835590200" name="Google Shape;293;p27"/>
          <p:cNvSpPr txBox="1"/>
          <p:nvPr/>
        </p:nvSpPr>
        <p:spPr bwMode="auto">
          <a:xfrm>
            <a:off x="6867524" y="4446390"/>
            <a:ext cx="95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•</a:t>
            </a:r>
            <a:endParaRPr/>
          </a:p>
        </p:txBody>
      </p:sp>
      <p:sp>
        <p:nvSpPr>
          <p:cNvPr id="1536772088" name="Google Shape;294;p27"/>
          <p:cNvSpPr txBox="1"/>
          <p:nvPr/>
        </p:nvSpPr>
        <p:spPr bwMode="auto">
          <a:xfrm>
            <a:off x="6962775" y="4446390"/>
            <a:ext cx="42672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De 'Compliance Tax':</a:t>
            </a: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U bent zelf </a:t>
            </a:r>
            <a:r>
              <a:rPr lang="en-US" sz="1650" b="0" i="0" u="none" strike="noStrike" cap="none">
                <a:solidFill>
                  <a:srgbClr val="D32F2F"/>
                </a:solidFill>
                <a:latin typeface="Lato"/>
                <a:ea typeface="Lato"/>
                <a:cs typeface="Lato"/>
              </a:rPr>
              <a:t>100% verantwoordelijk</a:t>
            </a:r>
            <a:r>
              <a:rPr lang="en-US" sz="165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.</a:t>
            </a:r>
            <a:endParaRPr sz="1700"/>
          </a:p>
        </p:txBody>
      </p:sp>
      <p:sp>
        <p:nvSpPr>
          <p:cNvPr id="1262401083" name="Google Shape;295;p27"/>
          <p:cNvSpPr txBox="1"/>
          <p:nvPr/>
        </p:nvSpPr>
        <p:spPr bwMode="auto">
          <a:xfrm>
            <a:off x="571500" y="571500"/>
            <a:ext cx="116016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TCO-Analyse: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Model 2 (On-Premise / CapEx)</a:t>
            </a:r>
            <a:endParaRPr/>
          </a:p>
        </p:txBody>
      </p:sp>
      <p:pic>
        <p:nvPicPr>
          <p:cNvPr id="1682802090" name="Google Shape;296;p27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560445" name="Google Shape;301;p28"/>
          <p:cNvSpPr txBox="1"/>
          <p:nvPr/>
        </p:nvSpPr>
        <p:spPr bwMode="auto">
          <a:xfrm>
            <a:off x="1257300" y="5929312"/>
            <a:ext cx="9677400" cy="6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00" b="1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Conclusie:</a:t>
            </a:r>
            <a:r>
              <a:rPr lang="en-US" sz="17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 On-Premise is een strategische keuze voor </a:t>
            </a:r>
            <a:r>
              <a:rPr lang="en-US" sz="1700" b="0" i="0" u="none" strike="noStrike" cap="none">
                <a:solidFill>
                  <a:srgbClr val="F39C0A"/>
                </a:solidFill>
                <a:latin typeface="Lato"/>
                <a:ea typeface="Lato"/>
                <a:cs typeface="Lato"/>
              </a:rPr>
              <a:t>absolute data-soevereiniteit</a:t>
            </a:r>
            <a:r>
              <a:rPr lang="en-US" sz="1700" b="0" i="0" u="none" strike="noStrike" cap="none">
                <a:solidFill>
                  <a:srgbClr val="F0F0F0"/>
                </a:solidFill>
                <a:latin typeface="Lato"/>
                <a:ea typeface="Lato"/>
                <a:cs typeface="Lato"/>
              </a:rPr>
              <a:t>, ten koste van een 3-4x hogere TCO.</a:t>
            </a:r>
            <a:endParaRPr sz="1600"/>
          </a:p>
        </p:txBody>
      </p:sp>
      <p:graphicFrame>
        <p:nvGraphicFramePr>
          <p:cNvPr id="1977317968" name="Google Shape;302;p28"/>
          <p:cNvGraphicFramePr>
            <a:graphicFrameLocks xmlns:a="http://schemas.openxmlformats.org/drawingml/2006/main"/>
          </p:cNvGraphicFramePr>
          <p:nvPr/>
        </p:nvGraphicFramePr>
        <p:xfrm rot="0">
          <a:off x="571500" y="1452562"/>
          <a:ext cx="3000000" cy="300000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{D837DDF1-D1F1-4667-93B5-6782D489C5F1}</a:tableStyleId>
                <a:noFill/>
              </a:tblPr>
              <a:tblGrid>
                <a:gridCol w="2507300"/>
                <a:gridCol w="4372575"/>
                <a:gridCol w="4169125"/>
              </a:tblGrid>
              <a:tr h="612325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500" b="1" i="0" u="none" strike="noStrike" cap="none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</a:rPr>
                        <a:t>Kostenpost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39C0A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500" b="1" i="0" u="none" strike="noStrike" cap="none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</a:rPr>
                        <a:t>Optie 1: Cloud API (bv. Azure GPT-4o)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39C0A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500" b="1" i="0" u="none" strike="noStrike" cap="none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</a:rPr>
                        <a:t>Optie 2: On-Premise (Self-Hosting)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39C0A"/>
                    </a:solidFill>
                  </a:tcPr>
                </a:tc>
              </a:tr>
              <a:tr h="612325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Initiële CapEx</a:t>
                      </a:r>
                      <a:endParaRPr>
                        <a:solidFill>
                          <a:srgbClr val="F0F0F0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€50.000 (Setup/Integratie)</a:t>
                      </a:r>
                      <a:endParaRPr>
                        <a:solidFill>
                          <a:srgbClr val="F0F0F0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€700.000 (Hardware Cluster)</a:t>
                      </a:r>
                      <a:endParaRPr>
                        <a:solidFill>
                          <a:srgbClr val="F0F0F0"/>
                        </a:solidFill>
                      </a:endParaRPr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612325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Jaar 1 OpEx (Technisch)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€350.000 (Token-kosten)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€150.000 (Stroom/Koeling/Onderhoud)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</a:tr>
              <a:tr h="612325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Jaar 1 OpEx (Personeel)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€0 (Bestaand team)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€800.000 ('DevOps Tax')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612325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Jaar 1 OpEx (Compliance)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€0 (Verschoven)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0" i="0" u="none" strike="noStrike" cap="none">
                          <a:solidFill>
                            <a:srgbClr val="F0F0F0"/>
                          </a:solidFill>
                          <a:latin typeface="Lato"/>
                          <a:ea typeface="Lato"/>
                          <a:cs typeface="Lato"/>
                        </a:rPr>
                        <a:t>€100.000+ (Auditkost AI Act)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</a:tr>
              <a:tr h="612325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Totaal Jaar 1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€400.000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€1.750.000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612325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Totaal 3 Jaar (Geschat)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€1.150.000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€4.000.000+</a:t>
                      </a:r>
                      <a:endParaRPr/>
                    </a:p>
                  </a:txBody>
                  <a:tcPr marL="63500" marR="63500" marT="25400" marB="25400" anchor="ctr">
                    <a:lnL w="9525" algn="ctr">
                      <a:solidFill>
                        <a:srgbClr val="000000">
                          <a:alpha val="0"/>
                        </a:srgbClr>
                      </a:solidFill>
                    </a:lnL>
                    <a:lnR w="9525" algn="ctr">
                      <a:solidFill>
                        <a:srgbClr val="000000">
                          <a:alpha val="0"/>
                        </a:srgbClr>
                      </a:solidFill>
                    </a:lnR>
                    <a:lnT w="9525" algn="ctr">
                      <a:solidFill>
                        <a:srgbClr val="000000">
                          <a:alpha val="0"/>
                        </a:srgbClr>
                      </a:solidFill>
                    </a:lnT>
                    <a:lnB w="9525" algn="ctr"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334155"/>
                    </a:solidFill>
                  </a:tcPr>
                </a:tc>
              </a:tr>
            </a:tbl>
          </a:graphicData>
        </a:graphic>
      </p:graphicFrame>
      <p:sp>
        <p:nvSpPr>
          <p:cNvPr id="913802199" name="Google Shape;303;p28"/>
          <p:cNvSpPr/>
          <p:nvPr/>
        </p:nvSpPr>
        <p:spPr bwMode="auto">
          <a:xfrm>
            <a:off x="571500" y="2076450"/>
            <a:ext cx="2507307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15243691" name="Google Shape;304;p28"/>
          <p:cNvSpPr/>
          <p:nvPr/>
        </p:nvSpPr>
        <p:spPr bwMode="auto">
          <a:xfrm>
            <a:off x="3078807" y="2076450"/>
            <a:ext cx="4372570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63707273" name="Google Shape;305;p28"/>
          <p:cNvSpPr/>
          <p:nvPr/>
        </p:nvSpPr>
        <p:spPr bwMode="auto">
          <a:xfrm>
            <a:off x="7451377" y="2076450"/>
            <a:ext cx="416912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90504543" name="Google Shape;306;p28"/>
          <p:cNvSpPr/>
          <p:nvPr/>
        </p:nvSpPr>
        <p:spPr bwMode="auto">
          <a:xfrm>
            <a:off x="571500" y="2686050"/>
            <a:ext cx="2507307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7855182" name="Google Shape;307;p28"/>
          <p:cNvSpPr/>
          <p:nvPr/>
        </p:nvSpPr>
        <p:spPr bwMode="auto">
          <a:xfrm>
            <a:off x="3078807" y="2686050"/>
            <a:ext cx="4372570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9405714" name="Google Shape;308;p28"/>
          <p:cNvSpPr/>
          <p:nvPr/>
        </p:nvSpPr>
        <p:spPr bwMode="auto">
          <a:xfrm>
            <a:off x="7451377" y="2686050"/>
            <a:ext cx="416912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90563905" name="Google Shape;309;p28"/>
          <p:cNvSpPr/>
          <p:nvPr/>
        </p:nvSpPr>
        <p:spPr bwMode="auto">
          <a:xfrm>
            <a:off x="571500" y="3295650"/>
            <a:ext cx="2507307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36362144" name="Google Shape;310;p28"/>
          <p:cNvSpPr/>
          <p:nvPr/>
        </p:nvSpPr>
        <p:spPr bwMode="auto">
          <a:xfrm>
            <a:off x="3078807" y="3295650"/>
            <a:ext cx="4372570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5174436" name="Google Shape;311;p28"/>
          <p:cNvSpPr/>
          <p:nvPr/>
        </p:nvSpPr>
        <p:spPr bwMode="auto">
          <a:xfrm>
            <a:off x="7451377" y="3295650"/>
            <a:ext cx="416912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4414145" name="Google Shape;312;p28"/>
          <p:cNvSpPr/>
          <p:nvPr/>
        </p:nvSpPr>
        <p:spPr bwMode="auto">
          <a:xfrm>
            <a:off x="571500" y="3905250"/>
            <a:ext cx="2507307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0728724" name="Google Shape;313;p28"/>
          <p:cNvSpPr/>
          <p:nvPr/>
        </p:nvSpPr>
        <p:spPr bwMode="auto">
          <a:xfrm>
            <a:off x="3078807" y="3905250"/>
            <a:ext cx="4372570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0540611" name="Google Shape;314;p28"/>
          <p:cNvSpPr/>
          <p:nvPr/>
        </p:nvSpPr>
        <p:spPr bwMode="auto">
          <a:xfrm>
            <a:off x="7451377" y="3905250"/>
            <a:ext cx="416912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50562798" name="Google Shape;315;p28"/>
          <p:cNvSpPr/>
          <p:nvPr/>
        </p:nvSpPr>
        <p:spPr bwMode="auto">
          <a:xfrm>
            <a:off x="571500" y="4514850"/>
            <a:ext cx="2507307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5410333" name="Google Shape;316;p28"/>
          <p:cNvSpPr/>
          <p:nvPr/>
        </p:nvSpPr>
        <p:spPr bwMode="auto">
          <a:xfrm>
            <a:off x="3078807" y="4514850"/>
            <a:ext cx="4372570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57175832" name="Google Shape;317;p28"/>
          <p:cNvSpPr/>
          <p:nvPr/>
        </p:nvSpPr>
        <p:spPr bwMode="auto">
          <a:xfrm>
            <a:off x="7451377" y="4514850"/>
            <a:ext cx="416912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53490757" name="Google Shape;318;p28"/>
          <p:cNvSpPr/>
          <p:nvPr/>
        </p:nvSpPr>
        <p:spPr bwMode="auto">
          <a:xfrm>
            <a:off x="571500" y="5124450"/>
            <a:ext cx="2507307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64694490" name="Google Shape;319;p28"/>
          <p:cNvSpPr/>
          <p:nvPr/>
        </p:nvSpPr>
        <p:spPr bwMode="auto">
          <a:xfrm>
            <a:off x="3078807" y="5124450"/>
            <a:ext cx="4372570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33289733" name="Google Shape;320;p28"/>
          <p:cNvSpPr/>
          <p:nvPr/>
        </p:nvSpPr>
        <p:spPr bwMode="auto">
          <a:xfrm>
            <a:off x="7451377" y="5124450"/>
            <a:ext cx="4169122" cy="9525"/>
          </a:xfrm>
          <a:prstGeom prst="rect">
            <a:avLst/>
          </a:prstGeom>
          <a:solidFill>
            <a:srgbClr val="F39C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21900230" name="Google Shape;321;p28"/>
          <p:cNvSpPr txBox="1"/>
          <p:nvPr/>
        </p:nvSpPr>
        <p:spPr bwMode="auto">
          <a:xfrm>
            <a:off x="571500" y="452437"/>
            <a:ext cx="11601600" cy="507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300" b="1" i="0" u="none" strike="noStrike" cap="none">
                <a:solidFill>
                  <a:srgbClr val="D32F2F"/>
                </a:solidFill>
                <a:latin typeface="Poppins"/>
                <a:ea typeface="Poppins"/>
                <a:cs typeface="Poppins"/>
              </a:rPr>
              <a:t>TCO Vergelijking</a:t>
            </a:r>
            <a:r>
              <a:rPr lang="en-US" sz="33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(3 Jaar, High-Volume Scenario)</a:t>
            </a:r>
            <a:endParaRPr/>
          </a:p>
        </p:txBody>
      </p:sp>
      <p:pic>
        <p:nvPicPr>
          <p:cNvPr id="789802206" name="Google Shape;322;p28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11576150" y="6105525"/>
            <a:ext cx="527100" cy="5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790490" name="Google Shape;327;p29"/>
          <p:cNvSpPr txBox="1"/>
          <p:nvPr/>
        </p:nvSpPr>
        <p:spPr bwMode="auto">
          <a:xfrm>
            <a:off x="295274" y="2314575"/>
            <a:ext cx="1160145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6750" b="1" i="0" u="none" strike="noStrike" cap="none">
                <a:solidFill>
                  <a:srgbClr val="F39C0A"/>
                </a:solidFill>
                <a:latin typeface="Poppins"/>
                <a:ea typeface="Poppins"/>
                <a:cs typeface="Poppins"/>
              </a:rPr>
              <a:t>Vragen?</a:t>
            </a:r>
            <a:endParaRPr/>
          </a:p>
        </p:txBody>
      </p:sp>
      <p:sp>
        <p:nvSpPr>
          <p:cNvPr id="288731864" name="Google Shape;328;p29"/>
          <p:cNvSpPr txBox="1"/>
          <p:nvPr/>
        </p:nvSpPr>
        <p:spPr bwMode="auto">
          <a:xfrm>
            <a:off x="571500" y="3876675"/>
            <a:ext cx="11049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0" i="0" u="none" strike="noStrike" cap="none">
                <a:solidFill>
                  <a:srgbClr val="E0E0E0"/>
                </a:solidFill>
                <a:latin typeface="Lato"/>
                <a:ea typeface="Lato"/>
                <a:cs typeface="Lato"/>
              </a:rPr>
              <a:t>Einde Module 1</a:t>
            </a:r>
            <a:endParaRPr/>
          </a:p>
        </p:txBody>
      </p:sp>
      <p:pic>
        <p:nvPicPr>
          <p:cNvPr id="62873163" name="Google Shape;329;p29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345025" y="5393971"/>
            <a:ext cx="2182050" cy="115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</cp:coreProperties>
</file>