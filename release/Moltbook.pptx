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met de spanning, niet met de definities.
Sterke zin voor op het podium: Moltbook is minder bewijs dan stresstest.
[Sources]
- Moltbook homepage: https://www.moltbook.com/ (geraadpleegd 2026-03-23).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Breng hier de centrale spanning: marketingclaim versus juridische realiteit.
Niet zeggen dat Moltbook 'fake' is. Wel zeggen dat autonomie hier niet netjes geborgd is.
[Sources]
- Homepage copy: 'A Social Network for AI Agents' en 'Humans welcome to observe.'
- Terms of Service: AI agents hebben geen legal eligibility; verantwoordelijkheid blijft bij de mens.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Zeg expliciet dat dit schema een vereenvoudigde interpretatie is van de docs, geen letterlijk diagram van OpenClaw.
Nuttige podiumzin: wat als autonomie voelt, is vaak een georkestreerde loop.
[Sources]
- OpenClaw docs: 'Context is everything OpenClaw sends to the model for a run.'
- Multi-agent docs: per-agent sandboxes, tool policies en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Zeg hier expliciet dat $0,377 niet uit een Moltbook trace komt.
De sterkste live boodschap is richting, niet precisie: context reload domineert.
[Sources]
- OpenClaw docs voorbeeld voor sessietokens.
- Anthropic pricing voor Opus 4.6.
- Repo-aannames: data/token_usage_assumptions.json.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Gebruik het woord 'rommelig' bewust. Dat maakt de nuance spreektaal zonder de ernst te verliezen.
Niet afronden naar 27/37/37. Gebruik de paperwaarden.
[Sources]
- Tsinghua paper: The Moltbook Illusion (2026-02-07).
- Moltbook Terms voor de governancekant.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Deze slide moet snel landen: de harde curves zitten in economie en infrastructuur.
ECI-nuance mondeling meegeven: single benchmarks satureren; daarom bestaan samengestelde kaders.
[Sources]
- Stanford HAI AI Index 2025.
- Epoch trend snapshot en ECI-pagina.
- Vendor pricing snapshots voor de economische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Behoud exact de betekenis van de safe line: de prijskloof is duidelijker dan de kwaliteitskloof.
Zeg ook expliciet dat dit vendor-reported blijft.
[Sources]
- MiniMax model page en pricing docs voor M2.7.
- Anthropic Opus 4.6 page.
- Gebruik geen parity-taal.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Deze slide mag bewust minder spreadsheet-achtig zijn dan vroeger.
De nuance blijft: scenario-tool, geen profetie.
[Sources]
- Forecast code en inputs: analyses/forecast_model.py en data/forecast_scenarios.json.
- Belangrijke audituitkomst: floors binden vóór de headline threshold.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de payoff-slide: vier bottlenecks, geen bijzaken.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deze slide rustig landen. Niet te snel naar de vragen springen.
Slotzin: het gaat niet om sociale schijn, maar om wat standhoudt onder schaal en verantwoordelijkheid.
Gespreksvragen
- Welke delen van uw agentstack worden vandaag nog telkens gereconstrueerd?
- Waar breekt governance eerst?
- Welke cijfers zijn gemeten, en welke zijn nog scenario-aannames?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3325"/>
          </a:solidFill>
          <a:ln w="12700">
            <a:solidFill>
              <a:srgbClr val="E9332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64592"/>
            <a:ext cx="2499055" cy="73152"/>
          </a:xfrm>
          <a:prstGeom prst="rect">
            <a:avLst/>
          </a:prstGeom>
          <a:solidFill>
            <a:srgbClr val="F2AD18"/>
          </a:solidFill>
          <a:ln w="12700">
            <a:solidFill>
              <a:srgbClr val="F2AD18">
                <a:alpha val="0"/>
              </a:srgbClr>
            </a:solidFill>
            <a:prstDash val="solid"/>
          </a:ln>
        </p:spPr>
      </p:sp>
      <p:pic>
        <p:nvPicPr>
          <p:cNvPr id="4" name="Image 0" descr="/home/ff/Documents/BoostMeUp/MoltBook_Sessie/assets/brand/boostmeup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84048"/>
            <a:ext cx="224028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63240" y="420624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D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NEDERLANDSTALIGE KEYNOTE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13232" y="14630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Moltbook: signaal, geen bewijs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13232" y="6364224"/>
            <a:ext cx="10881360" cy="0"/>
          </a:xfrm>
          <a:prstGeom prst="line">
            <a:avLst/>
          </a:prstGeom>
          <a:noFill/>
          <a:ln w="12700">
            <a:solidFill>
              <a:srgbClr val="3942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640080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Gebaseerd op repo-code, screenshots en gecontroleerde bronnen. Rebuild: 2026-03-23.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13232" y="204825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 een sociaal netwerk voor AI-agenten wel en niet laat zien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13232" y="2578608"/>
            <a:ext cx="5029200" cy="2148840"/>
          </a:xfrm>
          <a:prstGeom prst="roundRect">
            <a:avLst>
              <a:gd name="adj" fmla="val 2553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816352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F2AD18"/>
          </a:solidFill>
          <a:ln w="12700">
            <a:solidFill>
              <a:srgbClr val="F2AD1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88950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1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KERNFRAMING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50976" y="327355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Niet interessant omdat autonomie al bewezen is.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Wel interessant omdat het zichtbaar maakt wat nog ontbreekt.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50976" y="416966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AD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identiteit  •  geheugen  •  governance  •  kostdiscipline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91072" y="1444752"/>
            <a:ext cx="5074920" cy="4498848"/>
          </a:xfrm>
          <a:prstGeom prst="roundRect">
            <a:avLst>
              <a:gd name="adj" fmla="val 1220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pic>
        <p:nvPicPr>
          <p:cNvPr id="16" name="Image 1" descr="/home/ff/Documents/BoostMeUp/MoltBook_Sessie/assets/moltbook_home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4855464" cy="427939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284464" y="1700784"/>
            <a:ext cx="1444752" cy="329184"/>
          </a:xfrm>
          <a:prstGeom prst="roundRect">
            <a:avLst>
              <a:gd name="adj" fmla="val 22222"/>
            </a:avLst>
          </a:prstGeom>
          <a:solidFill>
            <a:srgbClr val="E93325"/>
          </a:solidFill>
          <a:ln w="12700">
            <a:solidFill>
              <a:srgbClr val="E93325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430768" y="1773936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stresstest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3325"/>
          </a:solidFill>
          <a:ln w="12700">
            <a:solidFill>
              <a:srgbClr val="E9332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64592"/>
            <a:ext cx="2499055" cy="73152"/>
          </a:xfrm>
          <a:prstGeom prst="rect">
            <a:avLst/>
          </a:prstGeom>
          <a:solidFill>
            <a:srgbClr val="F2AD18"/>
          </a:solidFill>
          <a:ln w="12700">
            <a:solidFill>
              <a:srgbClr val="F2AD18">
                <a:alpha val="0"/>
              </a:srgbClr>
            </a:solidFill>
            <a:prstDash val="solid"/>
          </a:ln>
        </p:spPr>
      </p:sp>
      <p:pic>
        <p:nvPicPr>
          <p:cNvPr id="4" name="Image 0" descr="/home/ff/Documents/BoostMeUp/MoltBook_Sessie/assets/brand/boostmeu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493776" cy="841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42062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3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PRIMAIRE BRONNEN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13232" y="6583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19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Moltbook verkoopt autonomie, maar borgt ze niet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713232" y="6364224"/>
            <a:ext cx="10881360" cy="0"/>
          </a:xfrm>
          <a:prstGeom prst="line">
            <a:avLst/>
          </a:prstGeom>
          <a:noFill/>
          <a:ln w="12700">
            <a:solidFill>
              <a:srgbClr val="D9DD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640080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B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Bronnen: Moltbook-homepage en Terms of Service, geraadpleegd op 2026-03-23.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59536" y="1188720"/>
            <a:ext cx="1316736" cy="329184"/>
          </a:xfrm>
          <a:prstGeom prst="roundRect">
            <a:avLst>
              <a:gd name="adj" fmla="val 22222"/>
            </a:avLst>
          </a:prstGeom>
          <a:solidFill>
            <a:srgbClr val="E93325"/>
          </a:solidFill>
          <a:ln w="12700">
            <a:solidFill>
              <a:srgbClr val="E93325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26187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publiek verhaal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13232" y="1481328"/>
            <a:ext cx="5010912" cy="1572768"/>
          </a:xfrm>
          <a:prstGeom prst="roundRect">
            <a:avLst>
              <a:gd name="adj" fmla="val 3488"/>
            </a:avLst>
          </a:prstGeom>
          <a:solidFill>
            <a:srgbClr val="F7F8FB"/>
          </a:solidFill>
          <a:ln w="12700">
            <a:solidFill>
              <a:srgbClr val="D9DDE6"/>
            </a:solidFill>
            <a:prstDash val="solid"/>
          </a:ln>
        </p:spPr>
      </p:sp>
      <p:pic>
        <p:nvPicPr>
          <p:cNvPr id="12" name="Image 1" descr="/home/ff/Documents/BoostMeUp/MoltBook_Sessie/assets/moltbook_home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91056"/>
            <a:ext cx="4791456" cy="135331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13232" y="3218688"/>
            <a:ext cx="5010912" cy="2304288"/>
          </a:xfrm>
          <a:prstGeom prst="roundRect">
            <a:avLst>
              <a:gd name="adj" fmla="val 2381"/>
            </a:avLst>
          </a:prstGeom>
          <a:solidFill>
            <a:srgbClr val="F7F8FB"/>
          </a:solidFill>
          <a:ln w="12700">
            <a:solidFill>
              <a:srgbClr val="D9DDE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50976" y="34564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933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"A Social Network for AI Agents"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950976" y="3968496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1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Humans welcome to observe.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1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Agentparticipatie is dus echt onderdeel van het productverhaal.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035040" y="1408176"/>
            <a:ext cx="0" cy="4443984"/>
          </a:xfrm>
          <a:prstGeom prst="line">
            <a:avLst/>
          </a:prstGeom>
          <a:noFill/>
          <a:ln w="12700">
            <a:solidFill>
              <a:srgbClr val="D9DDE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0" y="118872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F2AD18"/>
          </a:solidFill>
          <a:ln w="12700">
            <a:solidFill>
              <a:srgbClr val="F2AD18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547104" y="126187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1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juridische limiet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382512" y="1481328"/>
            <a:ext cx="4937760" cy="1572768"/>
          </a:xfrm>
          <a:prstGeom prst="roundRect">
            <a:avLst>
              <a:gd name="adj" fmla="val 3488"/>
            </a:avLst>
          </a:prstGeom>
          <a:solidFill>
            <a:srgbClr val="F7F8FB"/>
          </a:solidFill>
          <a:ln w="12700">
            <a:solidFill>
              <a:srgbClr val="D9DDE6"/>
            </a:solidFill>
            <a:prstDash val="solid"/>
          </a:ln>
        </p:spPr>
      </p:sp>
      <p:pic>
        <p:nvPicPr>
          <p:cNvPr id="20" name="Image 2" descr="/home/ff/Documents/BoostMeUp/MoltBook_Sessie/assets/moltbook_terms_eligibil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91056"/>
            <a:ext cx="4718304" cy="135331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382512" y="3218688"/>
            <a:ext cx="4937760" cy="2304288"/>
          </a:xfrm>
          <a:prstGeom prst="roundRect">
            <a:avLst>
              <a:gd name="adj" fmla="val 2381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638544" y="35112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2AD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Geen legal eligibility</a:t>
            </a:r>
            <a:endParaRPr lang="en-US" sz="2100" dirty="0"/>
          </a:p>
        </p:txBody>
      </p:sp>
      <p:sp>
        <p:nvSpPr>
          <p:cNvPr id="23" name="Text 18"/>
          <p:cNvSpPr/>
          <p:nvPr/>
        </p:nvSpPr>
        <p:spPr>
          <a:xfrm>
            <a:off x="6638544" y="3913632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menselijke account owner blijft verantwoordelijk.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 is geen detail: het begrenst juridische en governance-autonomie meteen.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713232" y="5504688"/>
            <a:ext cx="10927080" cy="640080"/>
          </a:xfrm>
          <a:prstGeom prst="roundRect">
            <a:avLst>
              <a:gd name="adj" fmla="val 11429"/>
            </a:avLst>
          </a:prstGeom>
          <a:solidFill>
            <a:srgbClr val="E8EEF9"/>
          </a:solidFill>
          <a:ln w="12700">
            <a:solidFill>
              <a:srgbClr val="D9DDE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32688" y="5669280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1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agentparticipatie is reëel; juridische en governance-autonomie zijn dat nog niet.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3325"/>
          </a:solidFill>
          <a:ln w="12700">
            <a:solidFill>
              <a:srgbClr val="E9332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64592"/>
            <a:ext cx="2499055" cy="73152"/>
          </a:xfrm>
          <a:prstGeom prst="rect">
            <a:avLst/>
          </a:prstGeom>
          <a:solidFill>
            <a:srgbClr val="F2AD18"/>
          </a:solidFill>
          <a:ln w="12700">
            <a:solidFill>
              <a:srgbClr val="F2AD18">
                <a:alpha val="0"/>
              </a:srgbClr>
            </a:solidFill>
            <a:prstDash val="solid"/>
          </a:ln>
        </p:spPr>
      </p:sp>
      <p:pic>
        <p:nvPicPr>
          <p:cNvPr id="4" name="Image 0" descr="/home/ff/Documents/BoostMeUp/MoltBook_Sessie/assets/brand/boostmeu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493776" cy="841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42062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D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13232" y="6583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Een agentnetwerk is een systeem, geen wezen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713232" y="6364224"/>
            <a:ext cx="10881360" cy="0"/>
          </a:xfrm>
          <a:prstGeom prst="line">
            <a:avLst/>
          </a:prstGeom>
          <a:noFill/>
          <a:ln w="12700">
            <a:solidFill>
              <a:srgbClr val="3942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640080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Bronnen: OpenClaw context docs en multi-agent docs; vereenvoudigde schemaweergave op basis van die documentatie.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13232" y="120700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2AD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 als autonomie voelt, is vaak een georkestreerde loop.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13232" y="1700784"/>
            <a:ext cx="1298448" cy="329184"/>
          </a:xfrm>
          <a:prstGeom prst="roundRect">
            <a:avLst>
              <a:gd name="adj" fmla="val 22222"/>
            </a:avLst>
          </a:prstGeom>
          <a:solidFill>
            <a:srgbClr val="E93325"/>
          </a:solidFill>
          <a:ln w="12700">
            <a:solidFill>
              <a:srgbClr val="E93325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17739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operationele lezing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371600" y="2798064"/>
            <a:ext cx="8138160" cy="0"/>
          </a:xfrm>
          <a:prstGeom prst="line">
            <a:avLst/>
          </a:prstGeom>
          <a:noFill/>
          <a:ln w="12700">
            <a:solidFill>
              <a:srgbClr val="E9332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87552" y="2212848"/>
            <a:ext cx="1901952" cy="1005840"/>
          </a:xfrm>
          <a:prstGeom prst="roundRect">
            <a:avLst>
              <a:gd name="adj" fmla="val 5455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33856" y="237744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2AD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33856" y="2670048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geschiedenis,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913632" y="2212848"/>
            <a:ext cx="1901952" cy="1005840"/>
          </a:xfrm>
          <a:prstGeom prst="roundRect">
            <a:avLst>
              <a:gd name="adj" fmla="val 5455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59936" y="237744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2AD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059936" y="2670048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rechten,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schema's,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39712" y="2212848"/>
            <a:ext cx="1901952" cy="1005840"/>
          </a:xfrm>
          <a:prstGeom prst="roundRect">
            <a:avLst>
              <a:gd name="adj" fmla="val 5455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86016" y="237744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2AD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986016" y="2670048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geheugenlaag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13232" y="3950208"/>
            <a:ext cx="6912864" cy="1426464"/>
          </a:xfrm>
          <a:prstGeom prst="roundRect">
            <a:avLst>
              <a:gd name="adj" fmla="val 3846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50976" y="42428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2AD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 OpenClaw hier hard maakt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50976" y="4572000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Multi-agent gedrag is technisch echt.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Maar het blijft opgebouwd uit context, tools, policies en state.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7936992" y="1920240"/>
            <a:ext cx="3566160" cy="3456432"/>
          </a:xfrm>
          <a:prstGeom prst="roundRect">
            <a:avLst>
              <a:gd name="adj" fmla="val 1587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pic>
        <p:nvPicPr>
          <p:cNvPr id="26" name="Image 1" descr="/home/ff/Documents/BoostMeUp/MoltBook_Sessie/assets/openclaw_context_do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029968"/>
            <a:ext cx="3346704" cy="3236976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13232" y="5504688"/>
            <a:ext cx="10927080" cy="640080"/>
          </a:xfrm>
          <a:prstGeom prst="roundRect">
            <a:avLst>
              <a:gd name="adj" fmla="val 11429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32688" y="5669280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architectuur is zichtbaar. Een autonoom digitaal organisme nog niet.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3325"/>
          </a:solidFill>
          <a:ln w="12700">
            <a:solidFill>
              <a:srgbClr val="E9332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64592"/>
            <a:ext cx="2499055" cy="73152"/>
          </a:xfrm>
          <a:prstGeom prst="rect">
            <a:avLst/>
          </a:prstGeom>
          <a:solidFill>
            <a:srgbClr val="F2AD18"/>
          </a:solidFill>
          <a:ln w="12700">
            <a:solidFill>
              <a:srgbClr val="F2AD18">
                <a:alpha val="0"/>
              </a:srgbClr>
            </a:solidFill>
            <a:prstDash val="solid"/>
          </a:ln>
        </p:spPr>
      </p:sp>
      <p:pic>
        <p:nvPicPr>
          <p:cNvPr id="4" name="Image 0" descr="/home/ff/Documents/BoostMeUp/MoltBook_Sessie/assets/brand/boostmeu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493776" cy="841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42062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3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KOSTEN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13232" y="6583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19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kost zit vooral in herladen context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713232" y="6364224"/>
            <a:ext cx="10881360" cy="0"/>
          </a:xfrm>
          <a:prstGeom prst="line">
            <a:avLst/>
          </a:prstGeom>
          <a:noFill/>
          <a:ln w="12700">
            <a:solidFill>
              <a:srgbClr val="D9DD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640080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B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OpenClaw voorbeeld + expliciete repo-aannames. $0,377 is reproduceerbare scenario-rekenkunde, geen gemeten Moltbook-trace.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13232" y="1261872"/>
            <a:ext cx="3858768" cy="4279392"/>
          </a:xfrm>
          <a:prstGeom prst="roundRect">
            <a:avLst>
              <a:gd name="adj" fmla="val 1422"/>
            </a:avLst>
          </a:prstGeom>
          <a:solidFill>
            <a:srgbClr val="F7F8FB"/>
          </a:solidFill>
          <a:ln w="12700">
            <a:solidFill>
              <a:srgbClr val="D9DD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0976" y="1517904"/>
            <a:ext cx="1517904" cy="329184"/>
          </a:xfrm>
          <a:prstGeom prst="roundRect">
            <a:avLst>
              <a:gd name="adj" fmla="val 22222"/>
            </a:avLst>
          </a:prstGeom>
          <a:solidFill>
            <a:srgbClr val="F2AD18"/>
          </a:solidFill>
          <a:ln w="12700">
            <a:solidFill>
              <a:srgbClr val="F2AD18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1591056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1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scenario, geen meting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32688" y="182880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E933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87%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932688" y="2724912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9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van de illustratieve cyclus zit in context reload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32688" y="38221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19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$0,377 per read-reply-post-cyclus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32688" y="41879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 Claude Opus 4.6, onder repo-aannames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28032" y="1261872"/>
            <a:ext cx="6583680" cy="4279392"/>
          </a:xfrm>
          <a:prstGeom prst="roundRect">
            <a:avLst>
              <a:gd name="adj" fmla="val 1282"/>
            </a:avLst>
          </a:prstGeom>
          <a:solidFill>
            <a:srgbClr val="F7F8FB"/>
          </a:solidFill>
          <a:ln w="12700">
            <a:solidFill>
              <a:srgbClr val="D9DD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02352" y="15727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1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Eén groot verschil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02352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B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reload (3x)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102352" y="2304288"/>
            <a:ext cx="5486400" cy="237744"/>
          </a:xfrm>
          <a:prstGeom prst="roundRect">
            <a:avLst>
              <a:gd name="adj" fmla="val 30769"/>
            </a:avLst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02352" y="2304288"/>
            <a:ext cx="4773168" cy="237744"/>
          </a:xfrm>
          <a:prstGeom prst="roundRect">
            <a:avLst>
              <a:gd name="adj" fmla="val 30769"/>
            </a:avLst>
          </a:prstGeom>
          <a:solidFill>
            <a:srgbClr val="E93325"/>
          </a:solidFill>
          <a:ln w="12700">
            <a:solidFill>
              <a:srgbClr val="E93325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765792" y="20848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1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60.900 tokens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102352" y="296265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B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Alles daarbuiten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102352" y="3200400"/>
            <a:ext cx="5486400" cy="237744"/>
          </a:xfrm>
          <a:prstGeom prst="roundRect">
            <a:avLst>
              <a:gd name="adj" fmla="val 30769"/>
            </a:avLst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102352" y="3200400"/>
            <a:ext cx="713232" cy="237744"/>
          </a:xfrm>
          <a:prstGeom prst="roundRect">
            <a:avLst>
              <a:gd name="adj" fmla="val 30769"/>
            </a:avLst>
          </a:prstGeom>
          <a:solidFill>
            <a:srgbClr val="F2AD18"/>
          </a:solidFill>
          <a:ln w="12700">
            <a:solidFill>
              <a:srgbClr val="F2AD1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765792" y="29809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1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8.900 tokens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102352" y="3840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93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live-les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102352" y="4133088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19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Niet de reply domineert de kost.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219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Het is het telkens opnieuw laden van systeemcontext, instructies en geschiedenis.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5102352" y="508406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B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OpenClaw anchor: ~14.250 sessietokens in docsvoorbeeld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13232" y="5504688"/>
            <a:ext cx="10927080" cy="640080"/>
          </a:xfrm>
          <a:prstGeom prst="roundRect">
            <a:avLst>
              <a:gd name="adj" fmla="val 11429"/>
            </a:avLst>
          </a:prstGeom>
          <a:solidFill>
            <a:srgbClr val="E8EEF9"/>
          </a:solidFill>
          <a:ln w="12700">
            <a:solidFill>
              <a:srgbClr val="D9DDE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32688" y="5669280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1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kostdruk is echt; het getal blijft scenario-uitkomst, geen observatie.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3325"/>
          </a:solidFill>
          <a:ln w="12700">
            <a:solidFill>
              <a:srgbClr val="E9332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64592"/>
            <a:ext cx="2499055" cy="73152"/>
          </a:xfrm>
          <a:prstGeom prst="rect">
            <a:avLst/>
          </a:prstGeom>
          <a:solidFill>
            <a:srgbClr val="F2AD18"/>
          </a:solidFill>
          <a:ln w="12700">
            <a:solidFill>
              <a:srgbClr val="F2AD18">
                <a:alpha val="0"/>
              </a:srgbClr>
            </a:solidFill>
            <a:prstDash val="solid"/>
          </a:ln>
        </p:spPr>
      </p:sp>
      <p:pic>
        <p:nvPicPr>
          <p:cNvPr id="4" name="Image 0" descr="/home/ff/Documents/BoostMeUp/MoltBook_Sessie/assets/brand/boostmeu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493776" cy="841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42062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D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ATTRIBUTIE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13232" y="6583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Sociaal gedrag is nog geen heldere autonomie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713232" y="6364224"/>
            <a:ext cx="10881360" cy="0"/>
          </a:xfrm>
          <a:prstGeom prst="line">
            <a:avLst/>
          </a:prstGeom>
          <a:noFill/>
          <a:ln w="12700">
            <a:solidFill>
              <a:srgbClr val="3942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640080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Bronnen: Tsinghua-paper 'The Moltbook Illusion' en Moltbook Terms.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13232" y="117043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data ondersteunt geen eenvoudig verhaal over 'volledig autonome' activiteit.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13232" y="1627632"/>
            <a:ext cx="3246120" cy="1828800"/>
          </a:xfrm>
          <a:prstGeom prst="roundRect">
            <a:avLst>
              <a:gd name="adj" fmla="val 3000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18105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933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26,5%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96112" y="241401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meer autonoom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96112" y="27249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 classificeerbare auteurs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87952" y="1627632"/>
            <a:ext cx="2898648" cy="1828800"/>
          </a:xfrm>
          <a:prstGeom prst="roundRect">
            <a:avLst>
              <a:gd name="adj" fmla="val 3000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810512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2AD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36,8%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370832" y="2414016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meer menselijk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370832" y="2724912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 classificeerbare auteurs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296912" y="1627632"/>
            <a:ext cx="2560320" cy="1828800"/>
          </a:xfrm>
          <a:prstGeom prst="roundRect">
            <a:avLst>
              <a:gd name="adj" fmla="val 3000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79792" y="1810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7DD3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36,7%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7479792" y="24140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ambigu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479792" y="2724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geen nette toewijzing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40112" y="1627632"/>
            <a:ext cx="1371600" cy="1828800"/>
          </a:xfrm>
          <a:prstGeom prst="roundRect">
            <a:avLst>
              <a:gd name="adj" fmla="val 4000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222992" y="186537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AD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222992" y="221284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 blijft juridisch verantwoordelijk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13232" y="4005072"/>
            <a:ext cx="6446520" cy="1463040"/>
          </a:xfrm>
          <a:prstGeom prst="roundRect">
            <a:avLst>
              <a:gd name="adj" fmla="val 3750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2688" y="4352544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les is niet: 'alles is fake'.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les is: attributie is rommelig genoeg dat sterke autonomieclaims te hard zijn.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7388352" y="3931920"/>
            <a:ext cx="4023360" cy="1609344"/>
          </a:xfrm>
          <a:prstGeom prst="roundRect">
            <a:avLst>
              <a:gd name="adj" fmla="val 3409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pic>
        <p:nvPicPr>
          <p:cNvPr id="28" name="Image 1" descr="/home/ff/Documents/BoostMeUp/MoltBook_Sessie/assets/moltbook_terms_eligibil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041648"/>
            <a:ext cx="3803904" cy="13898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13232" y="5504688"/>
            <a:ext cx="10927080" cy="640080"/>
          </a:xfrm>
          <a:prstGeom prst="roundRect">
            <a:avLst>
              <a:gd name="adj" fmla="val 11429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932688" y="5669280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Moltbook is een interessant experiment in AI-coördinatie onder zware menselijke governance.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3325"/>
          </a:solidFill>
          <a:ln w="12700">
            <a:solidFill>
              <a:srgbClr val="E9332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64592"/>
            <a:ext cx="2499055" cy="73152"/>
          </a:xfrm>
          <a:prstGeom prst="rect">
            <a:avLst/>
          </a:prstGeom>
          <a:solidFill>
            <a:srgbClr val="F2AD18"/>
          </a:solidFill>
          <a:ln w="12700">
            <a:solidFill>
              <a:srgbClr val="F2AD18">
                <a:alpha val="0"/>
              </a:srgbClr>
            </a:solidFill>
            <a:prstDash val="solid"/>
          </a:ln>
        </p:spPr>
      </p:sp>
      <p:pic>
        <p:nvPicPr>
          <p:cNvPr id="4" name="Image 0" descr="/home/ff/Documents/BoostMeUp/MoltBook_Sessie/assets/brand/boostmeu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493776" cy="841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42062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3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13232" y="6583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19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stevigste signalen zitten in economie en infrastructuur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713232" y="6364224"/>
            <a:ext cx="10881360" cy="0"/>
          </a:xfrm>
          <a:prstGeom prst="line">
            <a:avLst/>
          </a:prstGeom>
          <a:noFill/>
          <a:ln w="12700">
            <a:solidFill>
              <a:srgbClr val="D9DD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640080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B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Bronnen: Stanford HAI, Epoch en officiële vendor pricing. Methodologische nuance blijft zichtbaar op de slide.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13232" y="11704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19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 vandaag het hardst verdedigbaar is, zit niet in hypewoorden maar in infrastructuur en economics.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13232" y="1700784"/>
            <a:ext cx="3054096" cy="1828800"/>
          </a:xfrm>
          <a:prstGeom prst="roundRect">
            <a:avLst>
              <a:gd name="adj" fmla="val 3000"/>
            </a:avLst>
          </a:prstGeom>
          <a:solidFill>
            <a:srgbClr val="F7F8FB"/>
          </a:solidFill>
          <a:ln w="12700">
            <a:solidFill>
              <a:srgbClr val="D9DD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1883664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933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&gt;280x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96112" y="2487168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1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kostdaling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96112" y="2798064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GPT-3.5-kwaliteit, nov 2022 → okt 2024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68496" y="1700784"/>
            <a:ext cx="2816352" cy="1828800"/>
          </a:xfrm>
          <a:prstGeom prst="roundRect">
            <a:avLst>
              <a:gd name="adj" fmla="val 3000"/>
            </a:avLst>
          </a:prstGeom>
          <a:solidFill>
            <a:srgbClr val="F7F8FB"/>
          </a:solidFill>
          <a:ln w="12700">
            <a:solidFill>
              <a:srgbClr val="D9DD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51376" y="188366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2AD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5,0x/jaar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151376" y="248716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1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compute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51376" y="279806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Epoch frontier snapshot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86016" y="1700784"/>
            <a:ext cx="2688336" cy="1828800"/>
          </a:xfrm>
          <a:prstGeom prst="roundRect">
            <a:avLst>
              <a:gd name="adj" fmla="val 3000"/>
            </a:avLst>
          </a:prstGeom>
          <a:solidFill>
            <a:srgbClr val="F7F8FB"/>
          </a:solidFill>
          <a:ln w="12700">
            <a:solidFill>
              <a:srgbClr val="D9DD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68896" y="1883664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+67,3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7168896" y="2487168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1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SWE-bench sprong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168896" y="2798064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Index benchmark jump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875520" y="1700784"/>
            <a:ext cx="1536192" cy="1828800"/>
          </a:xfrm>
          <a:prstGeom prst="roundRect">
            <a:avLst>
              <a:gd name="adj" fmla="val 3571"/>
            </a:avLst>
          </a:prstGeom>
          <a:solidFill>
            <a:srgbClr val="F7F8FB"/>
          </a:solidFill>
          <a:ln w="12700">
            <a:solidFill>
              <a:srgbClr val="D9DD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76688" y="19751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bronlijn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076688" y="2286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93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Stanford + Epoch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13232" y="3730752"/>
            <a:ext cx="4663440" cy="1792224"/>
          </a:xfrm>
          <a:prstGeom prst="roundRect">
            <a:avLst>
              <a:gd name="adj" fmla="val 3061"/>
            </a:avLst>
          </a:prstGeom>
          <a:solidFill>
            <a:srgbClr val="F7F8FB"/>
          </a:solidFill>
          <a:ln w="12700">
            <a:solidFill>
              <a:srgbClr val="D9DDE6"/>
            </a:solidFill>
            <a:prstDash val="solid"/>
          </a:ln>
        </p:spPr>
      </p:sp>
      <p:pic>
        <p:nvPicPr>
          <p:cNvPr id="26" name="Image 1" descr="/home/ff/Documents/BoostMeUp/MoltBook_Sessie/assets/ai_tre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0"/>
            <a:ext cx="4443984" cy="157276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5577840" y="3730752"/>
            <a:ext cx="6062472" cy="1792224"/>
          </a:xfrm>
          <a:prstGeom prst="roundRect">
            <a:avLst>
              <a:gd name="adj" fmla="val 3061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797296" y="3968496"/>
            <a:ext cx="1591056" cy="329184"/>
          </a:xfrm>
          <a:prstGeom prst="roundRect">
            <a:avLst>
              <a:gd name="adj" fmla="val 22222"/>
            </a:avLst>
          </a:prstGeom>
          <a:solidFill>
            <a:srgbClr val="F2AD18"/>
          </a:solidFill>
          <a:ln w="12700">
            <a:solidFill>
              <a:srgbClr val="F2AD18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943600" y="404164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1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voorzichtigheid blijft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797296" y="4407408"/>
            <a:ext cx="5376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Niet elke capability-curve blijft netjes exponentieel.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Bounded benchmarks kunnen satureren, dus lees capability minder hard dan kosten, compute en efficiency.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713232" y="5596128"/>
            <a:ext cx="10927080" cy="640080"/>
          </a:xfrm>
          <a:prstGeom prst="roundRect">
            <a:avLst>
              <a:gd name="adj" fmla="val 11429"/>
            </a:avLst>
          </a:prstGeom>
          <a:solidFill>
            <a:srgbClr val="E8EEF9"/>
          </a:solidFill>
          <a:ln w="12700">
            <a:solidFill>
              <a:srgbClr val="D9DDE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32688" y="5760720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1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onthoud vooral kostdaling, compute en efficiency. Niet één spectaculaire scorelijn.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3325"/>
          </a:solidFill>
          <a:ln w="12700">
            <a:solidFill>
              <a:srgbClr val="E9332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64592"/>
            <a:ext cx="2499055" cy="73152"/>
          </a:xfrm>
          <a:prstGeom prst="rect">
            <a:avLst/>
          </a:prstGeom>
          <a:solidFill>
            <a:srgbClr val="F2AD18"/>
          </a:solidFill>
          <a:ln w="12700">
            <a:solidFill>
              <a:srgbClr val="F2AD18">
                <a:alpha val="0"/>
              </a:srgbClr>
            </a:solidFill>
            <a:prstDash val="solid"/>
          </a:ln>
        </p:spPr>
      </p:sp>
      <p:pic>
        <p:nvPicPr>
          <p:cNvPr id="4" name="Image 0" descr="/home/ff/Documents/BoostMeUp/MoltBook_Sessie/assets/brand/boostmeu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493776" cy="841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42062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D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MODELVERGELIJKING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13232" y="6583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MiniMax is vooral een prijsverhaal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713232" y="6364224"/>
            <a:ext cx="10881360" cy="0"/>
          </a:xfrm>
          <a:prstGeom prst="line">
            <a:avLst/>
          </a:prstGeom>
          <a:noFill/>
          <a:ln w="12700">
            <a:solidFill>
              <a:srgbClr val="3942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640080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Bronnen: officiële MiniMax- en Anthropic-pagina's. Vendor-reported, geen neutrale matched eval sheet.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13232" y="1298448"/>
            <a:ext cx="4937760" cy="2852928"/>
          </a:xfrm>
          <a:prstGeom prst="roundRect">
            <a:avLst>
              <a:gd name="adj" fmla="val 1923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2688" y="1554480"/>
            <a:ext cx="1572768" cy="329184"/>
          </a:xfrm>
          <a:prstGeom prst="roundRect">
            <a:avLst>
              <a:gd name="adj" fmla="val 22222"/>
            </a:avLst>
          </a:prstGeom>
          <a:solidFill>
            <a:srgbClr val="E93325"/>
          </a:solidFill>
          <a:ln w="12700">
            <a:solidFill>
              <a:srgbClr val="E93325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16276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officiële list prices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32688" y="2048256"/>
            <a:ext cx="4389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AD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16,7x goedkoper op input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2AD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20,8x goedkoper op output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32688" y="30906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MiniMax M2.7: $0,30 / $1,20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Opus 4.6: $5 / $25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852160" y="1298448"/>
            <a:ext cx="5788152" cy="2852928"/>
          </a:xfrm>
          <a:prstGeom prst="roundRect">
            <a:avLst>
              <a:gd name="adj" fmla="val 1923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71616" y="1554480"/>
            <a:ext cx="2084832" cy="329184"/>
          </a:xfrm>
          <a:prstGeom prst="roundRect">
            <a:avLst>
              <a:gd name="adj" fmla="val 22222"/>
            </a:avLst>
          </a:prstGeom>
          <a:solidFill>
            <a:srgbClr val="F2AD18"/>
          </a:solidFill>
          <a:ln w="12700">
            <a:solidFill>
              <a:srgbClr val="F2AD18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1627632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1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zelfde benchmark, smallere gap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71616" y="2084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Bench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071616" y="239572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57,0%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071616" y="28163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MiniMax M2.7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94192" y="239572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2AD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65,4%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8394192" y="28163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Opus 4.6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071616" y="34015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MMClaw-verwijzing bij MiniMax gaat over Sonnet 4.6, niet Opus 4.6.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13232" y="4443984"/>
            <a:ext cx="10927080" cy="640080"/>
          </a:xfrm>
          <a:prstGeom prst="roundRect">
            <a:avLst>
              <a:gd name="adj" fmla="val 11429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32688" y="4608576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de prijskloof is duidelijker dan de kwaliteitskloof.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13232" y="5230368"/>
            <a:ext cx="10927080" cy="548640"/>
          </a:xfrm>
          <a:prstGeom prst="roundRect">
            <a:avLst>
              <a:gd name="adj" fmla="val 10000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5413248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Veilige podiumframing: uitzonderlijk goedkoop en op sommige agentic/coding taken competitief. Niet: 'in wezen gelijk aan Opus'.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3325"/>
          </a:solidFill>
          <a:ln w="12700">
            <a:solidFill>
              <a:srgbClr val="E9332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64592"/>
            <a:ext cx="2499055" cy="73152"/>
          </a:xfrm>
          <a:prstGeom prst="rect">
            <a:avLst/>
          </a:prstGeom>
          <a:solidFill>
            <a:srgbClr val="F2AD18"/>
          </a:solidFill>
          <a:ln w="12700">
            <a:solidFill>
              <a:srgbClr val="F2AD18">
                <a:alpha val="0"/>
              </a:srgbClr>
            </a:solidFill>
            <a:prstDash val="solid"/>
          </a:ln>
        </p:spPr>
      </p:sp>
      <p:pic>
        <p:nvPicPr>
          <p:cNvPr id="4" name="Image 0" descr="/home/ff/Documents/BoostMeUp/MoltBook_Sessie/assets/brand/boostmeu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493776" cy="841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42062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3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VOORUITBLIK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13232" y="6583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19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Vooruitblik: nuttig als scenario-tool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713232" y="6364224"/>
            <a:ext cx="10881360" cy="0"/>
          </a:xfrm>
          <a:prstGeom prst="line">
            <a:avLst/>
          </a:prstGeom>
          <a:noFill/>
          <a:ln w="12700">
            <a:solidFill>
              <a:srgbClr val="D9DD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640080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B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Monte Carlo barrier model met expliciete aannames. Geen deterministische voorspelling.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13232" y="1188720"/>
            <a:ext cx="6400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19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Niet onthouden: één jaartal.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219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Wel onthouden: welke bottlenecks de uitkomst sturen.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13232" y="1901952"/>
            <a:ext cx="10927080" cy="1956816"/>
          </a:xfrm>
          <a:prstGeom prst="roundRect">
            <a:avLst>
              <a:gd name="adj" fmla="val 2804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552" y="22128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2AD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Belangrijkste modelinzicht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87552" y="261518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deze parameterisatie binden floors eerder dan de headline threshold.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87552" y="3072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Dus memory, reliability, network en governance wegen zwaarder dan één headline-getal.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87552" y="3456432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E93325"/>
          </a:solidFill>
          <a:ln w="12700">
            <a:solidFill>
              <a:srgbClr val="E93325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33856" y="35295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121408" y="345643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2AD18"/>
          </a:solidFill>
          <a:ln w="12700">
            <a:solidFill>
              <a:srgbClr val="F2AD18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67712" y="352958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21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346704" y="3456432"/>
            <a:ext cx="987552" cy="329184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93008" y="3529584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462272" y="3456432"/>
            <a:ext cx="1170432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08576" y="352958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13232" y="4187952"/>
            <a:ext cx="3054096" cy="1828800"/>
          </a:xfrm>
          <a:prstGeom prst="roundRect">
            <a:avLst>
              <a:gd name="adj" fmla="val 3000"/>
            </a:avLst>
          </a:prstGeom>
          <a:solidFill>
            <a:srgbClr val="F7F8FB"/>
          </a:solidFill>
          <a:ln w="12700">
            <a:solidFill>
              <a:srgbClr val="D9DD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6112" y="4370832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933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28,1%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896112" y="4974336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1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basisscenario tegen 2040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96112" y="5285232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onder huidige aannames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968496" y="4187952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F7F8FB"/>
          </a:solidFill>
          <a:ln w="12700">
            <a:solidFill>
              <a:srgbClr val="D9DDE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51376" y="43708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2AD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2038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4151376" y="49743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1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mediaan in basisscenario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151376" y="52852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geen datum-belofte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912864" y="4187952"/>
            <a:ext cx="2560320" cy="1828800"/>
          </a:xfrm>
          <a:prstGeom prst="roundRect">
            <a:avLst>
              <a:gd name="adj" fmla="val 3000"/>
            </a:avLst>
          </a:prstGeom>
          <a:solidFill>
            <a:srgbClr val="F7F8FB"/>
          </a:solidFill>
          <a:ln w="12700">
            <a:solidFill>
              <a:srgbClr val="D9DDE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95744" y="43708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71,9%</a:t>
            </a:r>
            <a:endParaRPr lang="en-US" sz="2800" dirty="0"/>
          </a:p>
        </p:txBody>
      </p:sp>
      <p:sp>
        <p:nvSpPr>
          <p:cNvPr id="32" name="Text 29"/>
          <p:cNvSpPr/>
          <p:nvPr/>
        </p:nvSpPr>
        <p:spPr>
          <a:xfrm>
            <a:off x="7095744" y="49743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1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haalt drempel niet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095744" y="52852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tegen 2040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674352" y="4187952"/>
            <a:ext cx="1965960" cy="1828800"/>
          </a:xfrm>
          <a:prstGeom prst="roundRect">
            <a:avLst>
              <a:gd name="adj" fmla="val 3000"/>
            </a:avLst>
          </a:prstGeom>
          <a:solidFill>
            <a:srgbClr val="F7F8FB"/>
          </a:solidFill>
          <a:ln w="12700">
            <a:solidFill>
              <a:srgbClr val="D9DDE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893808" y="44256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6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9893808" y="47365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93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assumptie-gedreven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713232" y="5596128"/>
            <a:ext cx="10927080" cy="640080"/>
          </a:xfrm>
          <a:prstGeom prst="roundRect">
            <a:avLst>
              <a:gd name="adj" fmla="val 11429"/>
            </a:avLst>
          </a:prstGeom>
          <a:solidFill>
            <a:srgbClr val="E8EEF9"/>
          </a:solidFill>
          <a:ln w="12700">
            <a:solidFill>
              <a:srgbClr val="D9DDE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32688" y="5760720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1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gebruik dit model om bottlenecks te ordenen, niet om 2038 als lot uit te spreken.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3325"/>
          </a:solidFill>
          <a:ln w="12700">
            <a:solidFill>
              <a:srgbClr val="E9332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64592"/>
            <a:ext cx="2499055" cy="73152"/>
          </a:xfrm>
          <a:prstGeom prst="rect">
            <a:avLst/>
          </a:prstGeom>
          <a:solidFill>
            <a:srgbClr val="F2AD18"/>
          </a:solidFill>
          <a:ln w="12700">
            <a:solidFill>
              <a:srgbClr val="F2AD18">
                <a:alpha val="0"/>
              </a:srgbClr>
            </a:solidFill>
            <a:prstDash val="solid"/>
          </a:ln>
        </p:spPr>
      </p:sp>
      <p:pic>
        <p:nvPicPr>
          <p:cNvPr id="4" name="Image 0" descr="/home/ff/Documents/BoostMeUp/MoltBook_Sessie/assets/brand/boostmeu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493776" cy="841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42062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D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13232" y="6583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 nog ontbreekt voor een echte agentsamenleving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713232" y="6364224"/>
            <a:ext cx="10881360" cy="0"/>
          </a:xfrm>
          <a:prstGeom prst="line">
            <a:avLst/>
          </a:prstGeom>
          <a:noFill/>
          <a:ln w="12700">
            <a:solidFill>
              <a:srgbClr val="3942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640080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 van gecontroleerde bevindingen; deze slide introduceert geen nieuwe cijfers.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13232" y="113385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2AD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Dit zijn geen randvoorwaarden. Dit zijn de bottlenecks.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13232" y="1609344"/>
            <a:ext cx="2514600" cy="4160520"/>
          </a:xfrm>
          <a:prstGeom prst="roundRect">
            <a:avLst>
              <a:gd name="adj" fmla="val 2182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65576" y="1609344"/>
            <a:ext cx="2514600" cy="4160520"/>
          </a:xfrm>
          <a:prstGeom prst="roundRect">
            <a:avLst>
              <a:gd name="adj" fmla="val 2182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0" y="1609344"/>
            <a:ext cx="2514600" cy="4160520"/>
          </a:xfrm>
          <a:prstGeom prst="roundRect">
            <a:avLst>
              <a:gd name="adj" fmla="val 2182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70264" y="1609344"/>
            <a:ext cx="2514600" cy="4160520"/>
          </a:xfrm>
          <a:prstGeom prst="roundRect">
            <a:avLst>
              <a:gd name="adj" fmla="val 2182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" y="1865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2AD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Identiteit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32688" y="2322576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 is echt autonoom?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 is hybrid?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 blijft juridisch de actor?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32688" y="440740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Zonder heldere attributie blijft 'agentsamenleving' retoriek.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85032" y="1865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2AD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Geheugen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685032" y="2322576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Minder context herladen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Meer persistente state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Betere continuïteit over sessies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685032" y="440740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Anders blijft 'autonomie' vooral reconstructiewerk per run.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37376" y="1865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2AD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437376" y="2322576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 moet matchen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 aansprakelijkheid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én met echte beslissingsmacht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37376" y="440740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Mensen juridisch laten opdraaien voor schijn-autonomie houdt niet lang stand.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189720" y="1865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2AD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Economics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189720" y="2322576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economics voorbij demo's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Goedkopere loops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Minder contextwaste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89720" y="440740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Zonder kostdiscipline blijft sociale schaal vooral theater.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13232" y="5541264"/>
            <a:ext cx="10927080" cy="640080"/>
          </a:xfrm>
          <a:prstGeom prst="roundRect">
            <a:avLst>
              <a:gd name="adj" fmla="val 11429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2688" y="5705856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zonder identiteit, geheugen, governance en economics blijft 'agentsamenleving' vooral taal.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3325"/>
          </a:solidFill>
          <a:ln w="12700">
            <a:solidFill>
              <a:srgbClr val="E9332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64592"/>
            <a:ext cx="2499055" cy="73152"/>
          </a:xfrm>
          <a:prstGeom prst="rect">
            <a:avLst/>
          </a:prstGeom>
          <a:solidFill>
            <a:srgbClr val="F2AD18"/>
          </a:solidFill>
          <a:ln w="12700">
            <a:solidFill>
              <a:srgbClr val="F2AD18">
                <a:alpha val="0"/>
              </a:srgbClr>
            </a:solidFill>
            <a:prstDash val="solid"/>
          </a:ln>
        </p:spPr>
      </p:sp>
      <p:pic>
        <p:nvPicPr>
          <p:cNvPr id="4" name="Image 0" descr="/home/ff/Documents/BoostMeUp/MoltBook_Sessie/assets/brand/boostmeu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493776" cy="841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42062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D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13232" y="6583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Moltbook is een signaal. Nog geen bewijs.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713232" y="6364224"/>
            <a:ext cx="10881360" cy="0"/>
          </a:xfrm>
          <a:prstGeom prst="line">
            <a:avLst/>
          </a:prstGeom>
          <a:noFill/>
          <a:ln w="12700">
            <a:solidFill>
              <a:srgbClr val="3942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640080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.pptx build via bun + PptxGenJS. Rebuild met: bun run build:deck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13232" y="1426464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juiste vraag is niet of de demo sociaal oogt.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77824" y="2212848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2AD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juiste vraag is of identiteit, geheugen, governance en kost standhouden zodra schaal en verantwoordelijkheid echt meetellen.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969264" y="3913632"/>
            <a:ext cx="10241280" cy="1078992"/>
          </a:xfrm>
          <a:prstGeom prst="roundRect">
            <a:avLst>
              <a:gd name="adj" fmla="val 5085"/>
            </a:avLst>
          </a:prstGeom>
          <a:solidFill>
            <a:srgbClr val="1C2540"/>
          </a:solidFill>
          <a:ln w="12700">
            <a:solidFill>
              <a:srgbClr val="39425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61872" y="41879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2AD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Onthoud dit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61872" y="449884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Agentnetwerken kunnen indrukwekkend ogen. Geloofwaardigheid begint pas waar identiteit, governance en economie standhouden.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13232" y="55046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7D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Gespreksvragen in de notes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BoostMeUp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Moltbook: signaal, geen bewijs</dc:title>
  <dc:subject>Nederlandstalige Moltbook keynote</dc:subject>
  <dc:creator>OpenAI Codex</dc:creator>
  <cp:lastModifiedBy>OpenAI Codex</cp:lastModifiedBy>
  <cp:revision>1</cp:revision>
  <dcterms:created xsi:type="dcterms:W3CDTF">2026-03-23T11:59:42Z</dcterms:created>
  <dcterms:modified xsi:type="dcterms:W3CDTF">2026-03-23T11:59:42Z</dcterms:modified>
</cp:coreProperties>
</file>